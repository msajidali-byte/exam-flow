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74"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p:scale>
          <a:sx n="88" d="100"/>
          <a:sy n="88" d="100"/>
        </p:scale>
        <p:origin x="466" y="-10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218434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Good morning. Today we are presenting Exam-Flow, an agentic multimodal framework for academic integrity verification in programming assessments.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Before we dive into the architecture, let's define what an "agent" is. A traditional LLM is a monolithic black box. You give it a huge prompt, and it tries to do everything, often hallucinating. Agentic AI breaks this down. An agent is a software component given a highly specific task, prompt, and role.</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Why use multiple agents instead of one? Think of it like a hospital. You don't ask one doctor to do the X-ray, read the blood tests, and perform the surgery. You use specialized experts. Similarly, Exam-Flow uses a Visual Proctor for video, a Code Reviewer for syntax, and an Auditor to combine their findings.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 programming exams, instructors face a dual challenge. Visual proctoring flags innocent head and eye movements as cheating, while static autograders evaluate only the final submitted file, blind to whether it was typed incrementally or pasted in one second from ChatGPT. We need forensic triangulation.</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30-SECOND SCRIPT FOR DR. MOTASEM:</a:t>
            </a:r>
          </a:p>
          <a:p>
            <a:r>
              <a:t>"This table summarizes the state-of-the-art literature across visual proctoring, code similarity, and multi-agent frameworks. Notice the 'Dataset Used' and 'Open Code/Data?' columns: prior work largely relies on proprietary or synthetic data without open-sourcing. Visual tools like Nigam and Labayen are blind to code. Code tools like JPlag are temporally blind to the process. Exam-Flow is the only framework that unifies video, screen, and code into a continuous, explainable timeline with fully open-sourced code and benchmark data."</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SCRIPT FOR DR. MOTASEM:</a:t>
            </a:r>
          </a:p>
          <a:p>
            <a:r>
              <a:t>"Here is the core architecture. We move left to right. First, we inject knowledge into the system using ChromaDB. Second, we prepare the video and code assets. Third, the multi-agent processing begins: the Visual Proctor and Code Reviewer work sequentially to extract anomalies. Finally, the Integrity Auditor and Final Grader synthesize the evidence into a single, explainable report."</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Table I displays the prompt instructions governing each agent. Instead of black-box scoring, each agent receives explicit operational guidance: the Visual Proctor is told that looking at the keyboard is normal; the Code Reviewer flags sudden logic appearing in under 3 seconds; the Auditor cross-references both streams; and the Final Grader caps grades if integrity is violated.</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 is how triangulation works in simple terms. Three evidence sources—student behavior from webcam, code progression from screen, and the final submitted file—are fed into the Integrity Auditor. 1. The Visual Proctor watches the student. 2. The Code Reviewer watches the screen. 3. The Integrity Auditor compares them. If a student looks away at the exact second a sudden code block appears, it flags a breach. If they typed incrementally with normal gaze, it passes.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 is our system backend: memory and context. ChromaDB serves as the AI's reference library using RAG. Without it, LLMs hallucinate; with it, the Code Reviewer queries actual instructor rubrics and ideal solutions using gemini-embedding-001. The Smart Caching layer is our short-term memory. While enterprise systems use Redis or Memcached, we implemented a lightweight internal Python cache that stores finalized reports by Case ID, slashing retrieval latency from 60 seconds to under 1 second.</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 is our experimental testbed of four demonstration cases. T1 verifies our honest baseline: normal typing produces a clean PASS. T2 tests sudden logic: pasting an entire algorithm in 1 second triggers an instant FAIL. T3 catches cross-modal mismatch: Java on screen versus Python submitted. T4 is our evasion scenario with AI assistance and external notes. Crucially, the system escalated to INVESTIGATION rather than an automated punishment, acknowledging AI vision ambiguity.</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 Trial 1, the student implements Bubble Sort. The sampled frames show natural, incremental typing from 15 seconds to 1 minute 17 seconds. The Visual Proctor reported no anomalous gaze diversions, the Code Reviewer noted regular typing pace, and the Integrity Auditor issued a clean PASS with a 100/100 technical grade.</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 Trial 2, a complete Binary Search method is pasted between 19 and 20 seconds. The code is syntactically perfect and gets 100% on unit tests, which would pass a traditional autograder. However, Exam-Flow's Code Reviewer flags the sudden logic event, and the Auditor issues an overall FAIL verdict.</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 Trial 3, the student types recursive Java code on screen, but submits an iterative Python script. Unimodal proctoring cannot catch this because the video looks like authentic typing, and the Python file passes test cases. Exam-Flow cross-references the video against the file, detects the paradigm mismatch, and fails the submission.</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Trial 4 is our most insightful test case. The candidate used external notes and AI code completion to implement a Linked List. The system successfully caught the instantaneous logic insertions. However, the visual model reported "face not visible" at 3:24 when the candidate was merely averting gaze to notes. This discrepancy perfectly proves our paper's thesis: AI vision models can misinterpret gaze as occlusion, making human-in-the-loop review mandatory.</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drives home our core educational philosophy: AI is an investigator, not a judge. First, AI hallucinations can mistake a keyboard glance for an absent face. Second, timing mismatches between video and editor logs can create false correlations. Third, automated grade penalties risk punishing innocent students. Our conclusion is absolute: AI compiles the evidence, but human instructors must make the final disciplinary decision.</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 are our honest scope and limitations. We demonstrated a functional end-to-end architecture, rapid code insertion detection, language mismatch resolution, and sub-second caching. However, we explicitly do NOT claim university-wide F1 scores or population statistical significance from 4 developer trials. The 3-second rule is an empirical prompt instruction, and privacy compliance remains paramount.</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a presenter reference sheet for Dr. Motasem during the Q&amp;A session. It provides clear, factual talking points on F1 removal, gemini-embedding-001, the 3-second sudden logic rule, Zenodo reproducibility, and human-in-the-loop governance.</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21-Oct-26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21-Oct-26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21-Oct-26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21-Oct-26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21-Oct-26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21-Oct-26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21-Oct-26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21-Oct-26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21-Oct-26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21-Oct-26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21-Oct-26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21-Oct-26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7F9FB"/>
        </a:solidFill>
        <a:effectLst/>
      </p:bgPr>
    </p:bg>
    <p:spTree>
      <p:nvGrpSpPr>
        <p:cNvPr id="1" name=""/>
        <p:cNvGrpSpPr/>
        <p:nvPr/>
      </p:nvGrpSpPr>
      <p:grpSpPr>
        <a:xfrm>
          <a:off x="0" y="0"/>
          <a:ext cx="0" cy="0"/>
          <a:chOff x="0" y="0"/>
          <a:chExt cx="0" cy="0"/>
        </a:xfrm>
      </p:grpSpPr>
      <p:sp>
        <p:nvSpPr>
          <p:cNvPr id="2" name="TextBox 1"/>
          <p:cNvSpPr txBox="1"/>
          <p:nvPr/>
        </p:nvSpPr>
        <p:spPr>
          <a:xfrm>
            <a:off x="731520" y="1463040"/>
            <a:ext cx="10725912" cy="3657600"/>
          </a:xfrm>
          <a:prstGeom prst="rect">
            <a:avLst/>
          </a:prstGeom>
          <a:noFill/>
        </p:spPr>
        <p:txBody>
          <a:bodyPr wrap="square">
            <a:spAutoFit/>
          </a:bodyPr>
          <a:lstStyle/>
          <a:p>
            <a:pPr>
              <a:spcAft>
                <a:spcPts val="800"/>
              </a:spcAft>
              <a:defRPr sz="4400" b="1">
                <a:solidFill>
                  <a:srgbClr val="153448"/>
                </a:solidFill>
                <a:latin typeface="Calibri"/>
              </a:defRPr>
            </a:pPr>
            <a:r>
              <a:t>Exam-Flow</a:t>
            </a:r>
          </a:p>
          <a:p>
            <a:pPr>
              <a:spcAft>
                <a:spcPts val="2400"/>
              </a:spcAft>
              <a:defRPr sz="2200" b="1">
                <a:solidFill>
                  <a:srgbClr val="087F83"/>
                </a:solidFill>
                <a:latin typeface="Calibri"/>
              </a:defRPr>
            </a:pPr>
            <a:r>
              <a:t>An Agentic Multimodal Framework for Automated Academic Integrity Verification</a:t>
            </a:r>
          </a:p>
          <a:p>
            <a:pPr>
              <a:spcAft>
                <a:spcPts val="800"/>
              </a:spcAft>
              <a:defRPr sz="1800">
                <a:solidFill>
                  <a:srgbClr val="153448"/>
                </a:solidFill>
                <a:latin typeface="Calibri"/>
              </a:defRPr>
            </a:pPr>
            <a:r>
              <a:t>Motasem Aldiab  •  M. Sajid Ali</a:t>
            </a:r>
          </a:p>
          <a:p>
            <a:pPr>
              <a:defRPr sz="1400">
                <a:solidFill>
                  <a:srgbClr val="526574"/>
                </a:solidFill>
                <a:latin typeface="Calibri"/>
              </a:defRPr>
            </a:pPr>
            <a:r>
              <a:t>IEEE Conference Symposium: Thompson Okanagan Section – Canada (TOK-CSES 2026)</a:t>
            </a:r>
            <a:br/>
            <a:r>
              <a:t>Proof of Concept: Four Demonstration Scenarios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9FB"/>
        </a:solidFill>
        <a:effectLst/>
      </p:bgPr>
    </p:bg>
    <p:spTree>
      <p:nvGrpSpPr>
        <p:cNvPr id="1" name=""/>
        <p:cNvGrpSpPr/>
        <p:nvPr/>
      </p:nvGrpSpPr>
      <p:grpSpPr>
        <a:xfrm>
          <a:off x="0" y="0"/>
          <a:ext cx="0" cy="0"/>
          <a:chOff x="0" y="0"/>
          <a:chExt cx="0" cy="0"/>
        </a:xfrm>
      </p:grpSpPr>
      <p:sp>
        <p:nvSpPr>
          <p:cNvPr id="2" name="TextBox 1"/>
          <p:cNvSpPr txBox="1"/>
          <p:nvPr/>
        </p:nvSpPr>
        <p:spPr>
          <a:xfrm>
            <a:off x="603504" y="411480"/>
            <a:ext cx="10972800" cy="731520"/>
          </a:xfrm>
          <a:prstGeom prst="rect">
            <a:avLst/>
          </a:prstGeom>
          <a:noFill/>
        </p:spPr>
        <p:txBody>
          <a:bodyPr wrap="square" lIns="0" tIns="0" rIns="0" bIns="0">
            <a:spAutoFit/>
          </a:bodyPr>
          <a:lstStyle/>
          <a:p>
            <a:pPr>
              <a:defRPr sz="2800" b="1">
                <a:solidFill>
                  <a:srgbClr val="153448"/>
                </a:solidFill>
                <a:latin typeface="Calibri"/>
              </a:defRPr>
            </a:pPr>
            <a:r>
              <a:t>What is an Agentic AI?</a:t>
            </a:r>
          </a:p>
        </p:txBody>
      </p:sp>
      <p:sp>
        <p:nvSpPr>
          <p:cNvPr id="3" name="TextBox 2"/>
          <p:cNvSpPr txBox="1"/>
          <p:nvPr/>
        </p:nvSpPr>
        <p:spPr>
          <a:xfrm>
            <a:off x="603504" y="1143000"/>
            <a:ext cx="10972800" cy="502920"/>
          </a:xfrm>
          <a:prstGeom prst="rect">
            <a:avLst/>
          </a:prstGeom>
          <a:noFill/>
        </p:spPr>
        <p:txBody>
          <a:bodyPr wrap="square" lIns="0" tIns="0" rIns="0" bIns="0">
            <a:spAutoFit/>
          </a:bodyPr>
          <a:lstStyle/>
          <a:p>
            <a:pPr>
              <a:defRPr sz="1300">
                <a:solidFill>
                  <a:srgbClr val="526574"/>
                </a:solidFill>
                <a:latin typeface="Calibri"/>
              </a:defRPr>
            </a:pPr>
            <a:r>
              <a:t>Moving from monolithic black-box language models to specialized micro-expertise.</a:t>
            </a:r>
          </a:p>
        </p:txBody>
      </p:sp>
      <p:sp>
        <p:nvSpPr>
          <p:cNvPr id="4" name="TextBox 3"/>
          <p:cNvSpPr txBox="1"/>
          <p:nvPr/>
        </p:nvSpPr>
        <p:spPr>
          <a:xfrm>
            <a:off x="603504" y="6355080"/>
            <a:ext cx="9601200" cy="320040"/>
          </a:xfrm>
          <a:prstGeom prst="rect">
            <a:avLst/>
          </a:prstGeom>
          <a:noFill/>
        </p:spPr>
        <p:txBody>
          <a:bodyPr wrap="square" lIns="0" tIns="0" rIns="0" bIns="0">
            <a:spAutoFit/>
          </a:bodyPr>
          <a:lstStyle/>
          <a:p>
            <a:pPr>
              <a:defRPr sz="1000">
                <a:solidFill>
                  <a:srgbClr val="526574"/>
                </a:solidFill>
                <a:latin typeface="Calibri"/>
              </a:defRPr>
            </a:pPr>
            <a:r>
              <a:t>Exam-Flow  |  IEEE TOK-CSES 2026</a:t>
            </a:r>
          </a:p>
        </p:txBody>
      </p:sp>
      <p:sp>
        <p:nvSpPr>
          <p:cNvPr id="5" name="TextBox 4"/>
          <p:cNvSpPr txBox="1"/>
          <p:nvPr/>
        </p:nvSpPr>
        <p:spPr>
          <a:xfrm>
            <a:off x="10789920" y="6355080"/>
            <a:ext cx="777240" cy="320040"/>
          </a:xfrm>
          <a:prstGeom prst="rect">
            <a:avLst/>
          </a:prstGeom>
          <a:noFill/>
        </p:spPr>
        <p:txBody>
          <a:bodyPr wrap="none" lIns="0" tIns="0" rIns="0" bIns="0">
            <a:spAutoFit/>
          </a:bodyPr>
          <a:lstStyle/>
          <a:p>
            <a:pPr algn="r">
              <a:defRPr sz="1000">
                <a:solidFill>
                  <a:srgbClr val="526574"/>
                </a:solidFill>
                <a:latin typeface="Calibri"/>
              </a:defRPr>
            </a:pPr>
            <a:r>
              <a:t>02</a:t>
            </a:r>
          </a:p>
        </p:txBody>
      </p:sp>
      <p:sp>
        <p:nvSpPr>
          <p:cNvPr id="6" name="Rounded Rectangle 5"/>
          <p:cNvSpPr/>
          <p:nvPr/>
        </p:nvSpPr>
        <p:spPr>
          <a:xfrm>
            <a:off x="731520" y="1783080"/>
            <a:ext cx="5166360" cy="4114800"/>
          </a:xfrm>
          <a:prstGeom prst="roundRect">
            <a:avLst/>
          </a:prstGeom>
          <a:solidFill>
            <a:srgbClr val="EBF1F6"/>
          </a:solidFill>
          <a:ln>
            <a:solidFill>
              <a:srgbClr val="CFD8DC"/>
            </a:solidFill>
          </a:ln>
        </p:spPr>
        <p:style>
          <a:lnRef idx="1">
            <a:schemeClr val="accent1"/>
          </a:lnRef>
          <a:fillRef idx="3">
            <a:schemeClr val="accent1"/>
          </a:fillRef>
          <a:effectRef idx="2">
            <a:schemeClr val="accent1"/>
          </a:effectRef>
          <a:fontRef idx="minor">
            <a:schemeClr val="lt1"/>
          </a:fontRef>
        </p:style>
        <p:txBody>
          <a:bodyPr wrap="square" lIns="274320" tIns="228600" rIns="274320" rtlCol="0" anchor="ctr"/>
          <a:lstStyle/>
          <a:p>
            <a:pPr algn="ctr">
              <a:spcAft>
                <a:spcPts val="1200"/>
              </a:spcAft>
              <a:defRPr sz="1700" b="1">
                <a:solidFill>
                  <a:srgbClr val="153448"/>
                </a:solidFill>
              </a:defRPr>
            </a:pPr>
            <a:r>
              <a:t>🧠  Traditional LLM (Monolithic System)</a:t>
            </a:r>
          </a:p>
          <a:p>
            <a:pPr>
              <a:spcAft>
                <a:spcPts val="800"/>
              </a:spcAft>
              <a:defRPr sz="1200">
                <a:solidFill>
                  <a:srgbClr val="526574"/>
                </a:solidFill>
                <a:latin typeface="Calibri"/>
              </a:defRPr>
            </a:pPr>
            <a:r>
              <a:t>•  Architecture: A single giant black-box model attempting all functions simultaneously.</a:t>
            </a:r>
          </a:p>
          <a:p>
            <a:pPr>
              <a:spcAft>
                <a:spcPts val="800"/>
              </a:spcAft>
              <a:defRPr sz="1200">
                <a:solidFill>
                  <a:srgbClr val="526574"/>
                </a:solidFill>
                <a:latin typeface="Calibri"/>
              </a:defRPr>
            </a:pPr>
            <a:r>
              <a:t>•  Workflow: Single prompt ➔ generic output ("Does everything, specializes in nothing").</a:t>
            </a:r>
          </a:p>
          <a:p>
            <a:pPr>
              <a:spcAft>
                <a:spcPts val="800"/>
              </a:spcAft>
              <a:defRPr sz="1200">
                <a:solidFill>
                  <a:srgbClr val="526574"/>
                </a:solidFill>
                <a:latin typeface="Calibri"/>
              </a:defRPr>
            </a:pPr>
            <a:r>
              <a:t>•  Cognitive Overload: When asked to parse hours of video, screen diffs, and complex code at once, it frequently hallucinates.</a:t>
            </a:r>
          </a:p>
          <a:p>
            <a:pPr>
              <a:spcAft>
                <a:spcPts val="800"/>
              </a:spcAft>
              <a:defRPr sz="1200">
                <a:solidFill>
                  <a:srgbClr val="526574"/>
                </a:solidFill>
                <a:latin typeface="Calibri"/>
              </a:defRPr>
            </a:pPr>
            <a:r>
              <a:t>•  Audit Failure: Generates an opaque final response without transparent, intermediate reasoning chains.</a:t>
            </a:r>
          </a:p>
        </p:txBody>
      </p:sp>
      <p:sp>
        <p:nvSpPr>
          <p:cNvPr id="7" name="Rounded Rectangle 6"/>
          <p:cNvSpPr/>
          <p:nvPr/>
        </p:nvSpPr>
        <p:spPr>
          <a:xfrm>
            <a:off x="6291072" y="1783080"/>
            <a:ext cx="5166360" cy="4114800"/>
          </a:xfrm>
          <a:prstGeom prst="roundRect">
            <a:avLst/>
          </a:prstGeom>
          <a:solidFill>
            <a:srgbClr val="EBF1F6"/>
          </a:solidFill>
          <a:ln>
            <a:solidFill>
              <a:srgbClr val="CFD8DC"/>
            </a:solidFill>
          </a:ln>
        </p:spPr>
        <p:style>
          <a:lnRef idx="1">
            <a:schemeClr val="accent1"/>
          </a:lnRef>
          <a:fillRef idx="3">
            <a:schemeClr val="accent1"/>
          </a:fillRef>
          <a:effectRef idx="2">
            <a:schemeClr val="accent1"/>
          </a:effectRef>
          <a:fontRef idx="minor">
            <a:schemeClr val="lt1"/>
          </a:fontRef>
        </p:style>
        <p:txBody>
          <a:bodyPr wrap="square" lIns="274320" tIns="228600" rIns="274320" rtlCol="0" anchor="ctr"/>
          <a:lstStyle/>
          <a:p>
            <a:pPr algn="ctr">
              <a:spcAft>
                <a:spcPts val="1200"/>
              </a:spcAft>
              <a:defRPr sz="1700" b="1">
                <a:solidFill>
                  <a:srgbClr val="153448"/>
                </a:solidFill>
              </a:defRPr>
            </a:pPr>
            <a:r>
              <a:t>🤖  Agentic AI (Specialized Micro-Expertise)</a:t>
            </a:r>
          </a:p>
          <a:p>
            <a:pPr>
              <a:spcAft>
                <a:spcPts val="800"/>
              </a:spcAft>
              <a:defRPr sz="1200">
                <a:solidFill>
                  <a:srgbClr val="526574"/>
                </a:solidFill>
                <a:latin typeface="Calibri"/>
              </a:defRPr>
            </a:pPr>
            <a:r>
              <a:t>•  Architecture: Decomposes complex multi-modal problems into specialized, coordinated roles.</a:t>
            </a:r>
          </a:p>
          <a:p>
            <a:pPr>
              <a:spcAft>
                <a:spcPts val="800"/>
              </a:spcAft>
              <a:defRPr sz="1200">
                <a:solidFill>
                  <a:srgbClr val="526574"/>
                </a:solidFill>
                <a:latin typeface="Calibri"/>
              </a:defRPr>
            </a:pPr>
            <a:r>
              <a:t>•  Workflow: Multiple focused agents (Agent A, Agent B, Agent C, Agent D) working in sequence.</a:t>
            </a:r>
          </a:p>
          <a:p>
            <a:pPr>
              <a:spcAft>
                <a:spcPts val="800"/>
              </a:spcAft>
              <a:defRPr sz="1200">
                <a:solidFill>
                  <a:srgbClr val="526574"/>
                </a:solidFill>
                <a:latin typeface="Calibri"/>
              </a:defRPr>
            </a:pPr>
            <a:r>
              <a:t>•  Targeted Responsibilities: Each agent is given a specific prompt, specific evidence inputs, and dedicated tools.</a:t>
            </a:r>
          </a:p>
          <a:p>
            <a:pPr>
              <a:spcAft>
                <a:spcPts val="800"/>
              </a:spcAft>
              <a:defRPr sz="1200">
                <a:solidFill>
                  <a:srgbClr val="526574"/>
                </a:solidFill>
                <a:latin typeface="Calibri"/>
              </a:defRPr>
            </a:pPr>
            <a:r>
              <a:t>•  Explainable Audit Trails: Intermediate logs are recorded step-by-step, providing verifiable evidence for instructors.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9FB"/>
        </a:solidFill>
        <a:effectLst/>
      </p:bgPr>
    </p:bg>
    <p:spTree>
      <p:nvGrpSpPr>
        <p:cNvPr id="1" name=""/>
        <p:cNvGrpSpPr/>
        <p:nvPr/>
      </p:nvGrpSpPr>
      <p:grpSpPr>
        <a:xfrm>
          <a:off x="0" y="0"/>
          <a:ext cx="0" cy="0"/>
          <a:chOff x="0" y="0"/>
          <a:chExt cx="0" cy="0"/>
        </a:xfrm>
      </p:grpSpPr>
      <p:sp>
        <p:nvSpPr>
          <p:cNvPr id="2" name="TextBox 1"/>
          <p:cNvSpPr txBox="1"/>
          <p:nvPr/>
        </p:nvSpPr>
        <p:spPr>
          <a:xfrm>
            <a:off x="603504" y="411480"/>
            <a:ext cx="10972800" cy="731520"/>
          </a:xfrm>
          <a:prstGeom prst="rect">
            <a:avLst/>
          </a:prstGeom>
          <a:noFill/>
        </p:spPr>
        <p:txBody>
          <a:bodyPr wrap="square" lIns="0" tIns="0" rIns="0" bIns="0">
            <a:spAutoFit/>
          </a:bodyPr>
          <a:lstStyle/>
          <a:p>
            <a:pPr>
              <a:defRPr sz="2800" b="1">
                <a:solidFill>
                  <a:srgbClr val="153448"/>
                </a:solidFill>
                <a:latin typeface="Calibri"/>
              </a:defRPr>
            </a:pPr>
            <a:r>
              <a:t>Why Multi-Agent Architecture?</a:t>
            </a:r>
          </a:p>
        </p:txBody>
      </p:sp>
      <p:sp>
        <p:nvSpPr>
          <p:cNvPr id="3" name="TextBox 2"/>
          <p:cNvSpPr txBox="1"/>
          <p:nvPr/>
        </p:nvSpPr>
        <p:spPr>
          <a:xfrm>
            <a:off x="603504" y="1143000"/>
            <a:ext cx="10972800" cy="502920"/>
          </a:xfrm>
          <a:prstGeom prst="rect">
            <a:avLst/>
          </a:prstGeom>
          <a:noFill/>
        </p:spPr>
        <p:txBody>
          <a:bodyPr wrap="square" lIns="0" tIns="0" rIns="0" bIns="0">
            <a:spAutoFit/>
          </a:bodyPr>
          <a:lstStyle/>
          <a:p>
            <a:pPr>
              <a:defRPr sz="1300">
                <a:solidFill>
                  <a:srgbClr val="526574"/>
                </a:solidFill>
                <a:latin typeface="Calibri"/>
              </a:defRPr>
            </a:pPr>
            <a:r>
              <a:t>The Hospital Analogy: Combining specialized experts to ensure diagnostic accuracy.</a:t>
            </a:r>
          </a:p>
        </p:txBody>
      </p:sp>
      <p:sp>
        <p:nvSpPr>
          <p:cNvPr id="4" name="TextBox 3"/>
          <p:cNvSpPr txBox="1"/>
          <p:nvPr/>
        </p:nvSpPr>
        <p:spPr>
          <a:xfrm>
            <a:off x="603504" y="6355080"/>
            <a:ext cx="9601200" cy="320040"/>
          </a:xfrm>
          <a:prstGeom prst="rect">
            <a:avLst/>
          </a:prstGeom>
          <a:noFill/>
        </p:spPr>
        <p:txBody>
          <a:bodyPr wrap="square" lIns="0" tIns="0" rIns="0" bIns="0">
            <a:spAutoFit/>
          </a:bodyPr>
          <a:lstStyle/>
          <a:p>
            <a:pPr>
              <a:defRPr sz="1000">
                <a:solidFill>
                  <a:srgbClr val="526574"/>
                </a:solidFill>
                <a:latin typeface="Calibri"/>
              </a:defRPr>
            </a:pPr>
            <a:r>
              <a:t>Exam-Flow  |  IEEE TOK-CSES 2026</a:t>
            </a:r>
          </a:p>
        </p:txBody>
      </p:sp>
      <p:sp>
        <p:nvSpPr>
          <p:cNvPr id="5" name="TextBox 4"/>
          <p:cNvSpPr txBox="1"/>
          <p:nvPr/>
        </p:nvSpPr>
        <p:spPr>
          <a:xfrm>
            <a:off x="10789920" y="6355080"/>
            <a:ext cx="777240" cy="320040"/>
          </a:xfrm>
          <a:prstGeom prst="rect">
            <a:avLst/>
          </a:prstGeom>
          <a:noFill/>
        </p:spPr>
        <p:txBody>
          <a:bodyPr wrap="none" lIns="0" tIns="0" rIns="0" bIns="0">
            <a:spAutoFit/>
          </a:bodyPr>
          <a:lstStyle/>
          <a:p>
            <a:pPr algn="r">
              <a:defRPr sz="1000">
                <a:solidFill>
                  <a:srgbClr val="526574"/>
                </a:solidFill>
                <a:latin typeface="Calibri"/>
              </a:defRPr>
            </a:pPr>
            <a:r>
              <a:t>03</a:t>
            </a:r>
          </a:p>
        </p:txBody>
      </p:sp>
      <p:sp>
        <p:nvSpPr>
          <p:cNvPr id="6" name="Rounded Rectangle 5"/>
          <p:cNvSpPr/>
          <p:nvPr/>
        </p:nvSpPr>
        <p:spPr>
          <a:xfrm>
            <a:off x="731520" y="1783080"/>
            <a:ext cx="10725912" cy="1188720"/>
          </a:xfrm>
          <a:prstGeom prst="roundRect">
            <a:avLst/>
          </a:prstGeom>
          <a:solidFill>
            <a:srgbClr val="EBF1F6"/>
          </a:solidFill>
          <a:ln w="19050">
            <a:solidFill>
              <a:srgbClr val="087F83"/>
            </a:solidFill>
          </a:ln>
        </p:spPr>
        <p:style>
          <a:lnRef idx="1">
            <a:schemeClr val="accent1"/>
          </a:lnRef>
          <a:fillRef idx="3">
            <a:schemeClr val="accent1"/>
          </a:fillRef>
          <a:effectRef idx="2">
            <a:schemeClr val="accent1"/>
          </a:effectRef>
          <a:fontRef idx="minor">
            <a:schemeClr val="lt1"/>
          </a:fontRef>
        </p:style>
        <p:txBody>
          <a:bodyPr wrap="square" lIns="228600" tIns="137160" rIns="228600" rtlCol="0" anchor="ctr"/>
          <a:lstStyle/>
          <a:p>
            <a:pPr algn="ctr">
              <a:spcAft>
                <a:spcPts val="400"/>
              </a:spcAft>
              <a:defRPr sz="1500" b="1">
                <a:solidFill>
                  <a:srgbClr val="153448"/>
                </a:solidFill>
              </a:defRPr>
            </a:pPr>
            <a:r>
              <a:t>🏥  The Clinical Diagnostic Team Analogy</a:t>
            </a:r>
          </a:p>
          <a:p>
            <a:pPr>
              <a:defRPr sz="1150">
                <a:solidFill>
                  <a:srgbClr val="526574"/>
                </a:solidFill>
              </a:defRPr>
            </a:pPr>
            <a:r>
              <a:t>In a hospital, you do not ask one doctor to take the X-ray, analyze blood pathology, and perform the surgery. You rely on specialized experts whose distinct findings are synthesized before making a high-stakes decision.</a:t>
            </a:r>
          </a:p>
        </p:txBody>
      </p:sp>
      <p:sp>
        <p:nvSpPr>
          <p:cNvPr id="7" name="Rounded Rectangle 6"/>
          <p:cNvSpPr/>
          <p:nvPr/>
        </p:nvSpPr>
        <p:spPr>
          <a:xfrm>
            <a:off x="731520" y="3154680"/>
            <a:ext cx="3328416" cy="2926080"/>
          </a:xfrm>
          <a:prstGeom prst="roundRect">
            <a:avLst/>
          </a:prstGeom>
          <a:solidFill>
            <a:srgbClr val="EBF1F6"/>
          </a:solidFill>
          <a:ln>
            <a:solidFill>
              <a:srgbClr val="CFD8DC"/>
            </a:solidFill>
          </a:ln>
        </p:spPr>
        <p:style>
          <a:lnRef idx="1">
            <a:schemeClr val="accent1"/>
          </a:lnRef>
          <a:fillRef idx="3">
            <a:schemeClr val="accent1"/>
          </a:fillRef>
          <a:effectRef idx="2">
            <a:schemeClr val="accent1"/>
          </a:effectRef>
          <a:fontRef idx="minor">
            <a:schemeClr val="lt1"/>
          </a:fontRef>
        </p:style>
        <p:txBody>
          <a:bodyPr wrap="square" lIns="182880" tIns="164592" rIns="182880" rtlCol="0" anchor="ctr"/>
          <a:lstStyle/>
          <a:p>
            <a:pPr algn="ctr">
              <a:spcAft>
                <a:spcPts val="200"/>
              </a:spcAft>
              <a:defRPr sz="1500" b="1">
                <a:solidFill>
                  <a:srgbClr val="153448"/>
                </a:solidFill>
              </a:defRPr>
            </a:pPr>
            <a:r>
              <a:t>👁️ Visual Proctor</a:t>
            </a:r>
          </a:p>
          <a:p>
            <a:pPr>
              <a:spcAft>
                <a:spcPts val="800"/>
              </a:spcAft>
              <a:defRPr sz="1200" b="1">
                <a:solidFill>
                  <a:srgbClr val="087F83"/>
                </a:solidFill>
              </a:defRPr>
            </a:pPr>
            <a:r>
              <a:t>= The Radiologist</a:t>
            </a:r>
          </a:p>
          <a:p>
            <a:pPr>
              <a:spcAft>
                <a:spcPts val="400"/>
              </a:spcAft>
              <a:defRPr sz="1050">
                <a:solidFill>
                  <a:srgbClr val="526574"/>
                </a:solidFill>
              </a:defRPr>
            </a:pPr>
            <a:r>
              <a:t>Watches the physical behavior.</a:t>
            </a:r>
          </a:p>
          <a:p>
            <a:pPr>
              <a:spcAft>
                <a:spcPts val="400"/>
              </a:spcAft>
              <a:defRPr sz="1050">
                <a:solidFill>
                  <a:srgbClr val="526574"/>
                </a:solidFill>
              </a:defRPr>
            </a:pPr>
            <a:r>
              <a:t>• Tracks webcam gaze vectors, head pose, and physical presence.</a:t>
            </a:r>
            <a:br/>
            <a:r>
              <a:t>• Treats routine keyboard glances as normal.</a:t>
            </a:r>
            <a:br/>
            <a:r>
              <a:t>• Outputs an objective, timestamped behavioral observation log.</a:t>
            </a:r>
          </a:p>
        </p:txBody>
      </p:sp>
      <p:sp>
        <p:nvSpPr>
          <p:cNvPr id="8" name="Rounded Rectangle 7"/>
          <p:cNvSpPr/>
          <p:nvPr/>
        </p:nvSpPr>
        <p:spPr>
          <a:xfrm>
            <a:off x="4407408" y="3154680"/>
            <a:ext cx="3328416" cy="2926080"/>
          </a:xfrm>
          <a:prstGeom prst="roundRect">
            <a:avLst/>
          </a:prstGeom>
          <a:solidFill>
            <a:srgbClr val="EBF1F6"/>
          </a:solidFill>
          <a:ln>
            <a:solidFill>
              <a:srgbClr val="CFD8DC"/>
            </a:solidFill>
          </a:ln>
        </p:spPr>
        <p:style>
          <a:lnRef idx="1">
            <a:schemeClr val="accent1"/>
          </a:lnRef>
          <a:fillRef idx="3">
            <a:schemeClr val="accent1"/>
          </a:fillRef>
          <a:effectRef idx="2">
            <a:schemeClr val="accent1"/>
          </a:effectRef>
          <a:fontRef idx="minor">
            <a:schemeClr val="lt1"/>
          </a:fontRef>
        </p:style>
        <p:txBody>
          <a:bodyPr wrap="square" lIns="182880" tIns="164592" rIns="182880" rtlCol="0" anchor="ctr"/>
          <a:lstStyle/>
          <a:p>
            <a:pPr algn="ctr">
              <a:spcAft>
                <a:spcPts val="200"/>
              </a:spcAft>
              <a:defRPr sz="1500" b="1">
                <a:solidFill>
                  <a:srgbClr val="153448"/>
                </a:solidFill>
              </a:defRPr>
            </a:pPr>
            <a:r>
              <a:t>💻 Code Reviewer</a:t>
            </a:r>
          </a:p>
          <a:p>
            <a:pPr>
              <a:spcAft>
                <a:spcPts val="800"/>
              </a:spcAft>
              <a:defRPr sz="1200" b="1">
                <a:solidFill>
                  <a:srgbClr val="087F83"/>
                </a:solidFill>
              </a:defRPr>
            </a:pPr>
            <a:r>
              <a:t>= The Pathologist</a:t>
            </a:r>
          </a:p>
          <a:p>
            <a:pPr>
              <a:spcAft>
                <a:spcPts val="400"/>
              </a:spcAft>
              <a:defRPr sz="1050">
                <a:solidFill>
                  <a:srgbClr val="526574"/>
                </a:solidFill>
              </a:defRPr>
            </a:pPr>
            <a:r>
              <a:t>Analyzes the technical artifact.</a:t>
            </a:r>
          </a:p>
          <a:p>
            <a:pPr>
              <a:spcAft>
                <a:spcPts val="400"/>
              </a:spcAft>
              <a:defRPr sz="1050">
                <a:solidFill>
                  <a:srgbClr val="526574"/>
                </a:solidFill>
              </a:defRPr>
            </a:pPr>
            <a:r>
              <a:t>• Inspects screen recording and code syntax progression.</a:t>
            </a:r>
            <a:br/>
            <a:r>
              <a:t>• Detects Sudden Logic events (&lt; 3s paste).</a:t>
            </a:r>
            <a:br/>
            <a:r>
              <a:t>• Evaluates logic against reference benchmarks using ChromaDB RAG.</a:t>
            </a:r>
          </a:p>
        </p:txBody>
      </p:sp>
      <p:sp>
        <p:nvSpPr>
          <p:cNvPr id="9" name="Rounded Rectangle 8"/>
          <p:cNvSpPr/>
          <p:nvPr/>
        </p:nvSpPr>
        <p:spPr>
          <a:xfrm>
            <a:off x="8083296" y="3154680"/>
            <a:ext cx="3328416" cy="2926080"/>
          </a:xfrm>
          <a:prstGeom prst="roundRect">
            <a:avLst/>
          </a:prstGeom>
          <a:solidFill>
            <a:srgbClr val="EBF1F6"/>
          </a:solidFill>
          <a:ln>
            <a:solidFill>
              <a:srgbClr val="CFD8DC"/>
            </a:solidFill>
          </a:ln>
        </p:spPr>
        <p:style>
          <a:lnRef idx="1">
            <a:schemeClr val="accent1"/>
          </a:lnRef>
          <a:fillRef idx="3">
            <a:schemeClr val="accent1"/>
          </a:fillRef>
          <a:effectRef idx="2">
            <a:schemeClr val="accent1"/>
          </a:effectRef>
          <a:fontRef idx="minor">
            <a:schemeClr val="lt1"/>
          </a:fontRef>
        </p:style>
        <p:txBody>
          <a:bodyPr wrap="square" lIns="182880" tIns="164592" rIns="182880" rtlCol="0" anchor="ctr"/>
          <a:lstStyle/>
          <a:p>
            <a:pPr algn="ctr">
              <a:spcAft>
                <a:spcPts val="200"/>
              </a:spcAft>
              <a:defRPr sz="1500" b="1">
                <a:solidFill>
                  <a:srgbClr val="153448"/>
                </a:solidFill>
              </a:defRPr>
            </a:pPr>
            <a:r>
              <a:t>⚖️ Integrity Auditor</a:t>
            </a:r>
          </a:p>
          <a:p>
            <a:pPr>
              <a:spcAft>
                <a:spcPts val="800"/>
              </a:spcAft>
              <a:defRPr sz="1200" b="1">
                <a:solidFill>
                  <a:srgbClr val="087F83"/>
                </a:solidFill>
              </a:defRPr>
            </a:pPr>
            <a:r>
              <a:t>= The Chief Surgeon</a:t>
            </a:r>
          </a:p>
          <a:p>
            <a:pPr>
              <a:spcAft>
                <a:spcPts val="400"/>
              </a:spcAft>
              <a:defRPr sz="1050">
                <a:solidFill>
                  <a:srgbClr val="526574"/>
                </a:solidFill>
              </a:defRPr>
            </a:pPr>
            <a:r>
              <a:t>Reviews all evidence to synthesize findings.</a:t>
            </a:r>
          </a:p>
          <a:p>
            <a:pPr>
              <a:spcAft>
                <a:spcPts val="400"/>
              </a:spcAft>
              <a:defRPr sz="1050">
                <a:solidFill>
                  <a:srgbClr val="526574"/>
                </a:solidFill>
              </a:defRPr>
            </a:pPr>
            <a:r>
              <a:t>• Cross-references visual logs directly against code timestamps.</a:t>
            </a:r>
            <a:br/>
            <a:r>
              <a:t>• Checks whether code sudden appearance coincides with gaze diversions.</a:t>
            </a:r>
            <a:br/>
            <a:r>
              <a:t>• Escalates ambiguous cases to INVESTIGATION for human oversight.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03504" y="411480"/>
            <a:ext cx="10972800" cy="777240"/>
          </a:xfrm>
          <a:prstGeom prst="rect">
            <a:avLst/>
          </a:prstGeom>
          <a:noFill/>
        </p:spPr>
        <p:txBody>
          <a:bodyPr wrap="square" lIns="0" tIns="0" rIns="0" bIns="0">
            <a:spAutoFit/>
          </a:bodyPr>
          <a:lstStyle/>
          <a:p>
            <a:pPr>
              <a:defRPr sz="2800" b="1">
                <a:solidFill>
                  <a:srgbClr val="153448"/>
                </a:solidFill>
                <a:latin typeface="Calibri"/>
              </a:defRPr>
            </a:pPr>
            <a:r>
              <a:t>The Proctoring Dilemma</a:t>
            </a:r>
          </a:p>
        </p:txBody>
      </p:sp>
      <p:sp>
        <p:nvSpPr>
          <p:cNvPr id="3" name="TextBox 2"/>
          <p:cNvSpPr txBox="1"/>
          <p:nvPr/>
        </p:nvSpPr>
        <p:spPr>
          <a:xfrm>
            <a:off x="603504" y="1170432"/>
            <a:ext cx="10972800" cy="646331"/>
          </a:xfrm>
          <a:prstGeom prst="rect">
            <a:avLst/>
          </a:prstGeom>
          <a:noFill/>
        </p:spPr>
        <p:txBody>
          <a:bodyPr wrap="square" lIns="0" tIns="0" rIns="0" bIns="0">
            <a:spAutoFit/>
          </a:bodyPr>
          <a:lstStyle/>
          <a:p>
            <a:pPr>
              <a:defRPr sz="1400">
                <a:solidFill>
                  <a:srgbClr val="526574"/>
                </a:solidFill>
                <a:latin typeface="Calibri"/>
              </a:defRPr>
            </a:pPr>
            <a:r>
              <a:rPr lang="en-US" sz="1400" dirty="0">
                <a:solidFill>
                  <a:srgbClr val="526574"/>
                </a:solidFill>
                <a:latin typeface="Calibri"/>
              </a:rPr>
              <a:t>Right now, we have a major dilemma in online proctoring. Current tools look at things </a:t>
            </a:r>
            <a:r>
              <a:rPr lang="en-US" sz="1400" b="1" dirty="0">
                <a:solidFill>
                  <a:srgbClr val="526574"/>
                </a:solidFill>
                <a:latin typeface="Calibri"/>
              </a:rPr>
              <a:t>in isolation</a:t>
            </a:r>
            <a:r>
              <a:rPr lang="en-US" sz="1400" dirty="0">
                <a:solidFill>
                  <a:srgbClr val="526574"/>
                </a:solidFill>
                <a:latin typeface="Calibri"/>
              </a:rPr>
              <a:t>. On one hand, webcam software watches the student's physical movements. But it's completely blind to the code they are writing. On the other hand, </a:t>
            </a:r>
            <a:r>
              <a:rPr lang="en-US" sz="1400" dirty="0" err="1">
                <a:solidFill>
                  <a:srgbClr val="526574"/>
                </a:solidFill>
                <a:latin typeface="Calibri"/>
              </a:rPr>
              <a:t>autograders</a:t>
            </a:r>
            <a:r>
              <a:rPr lang="en-US" sz="1400" dirty="0">
                <a:solidFill>
                  <a:srgbClr val="526574"/>
                </a:solidFill>
                <a:latin typeface="Calibri"/>
              </a:rPr>
              <a:t> look at the final code file, but they are completely blind to how the student behaved.</a:t>
            </a:r>
            <a:r>
              <a:rPr lang="en-US" dirty="0"/>
              <a:t> </a:t>
            </a:r>
            <a:endParaRPr dirty="0"/>
          </a:p>
        </p:txBody>
      </p:sp>
      <p:sp>
        <p:nvSpPr>
          <p:cNvPr id="4" name="TextBox 3"/>
          <p:cNvSpPr txBox="1"/>
          <p:nvPr/>
        </p:nvSpPr>
        <p:spPr>
          <a:xfrm>
            <a:off x="603504" y="6355080"/>
            <a:ext cx="9601200" cy="320040"/>
          </a:xfrm>
          <a:prstGeom prst="rect">
            <a:avLst/>
          </a:prstGeom>
          <a:noFill/>
        </p:spPr>
        <p:txBody>
          <a:bodyPr wrap="square" lIns="0" tIns="0" rIns="0" bIns="0">
            <a:spAutoFit/>
          </a:bodyPr>
          <a:lstStyle/>
          <a:p>
            <a:pPr>
              <a:defRPr sz="1000">
                <a:solidFill>
                  <a:srgbClr val="526574"/>
                </a:solidFill>
                <a:latin typeface="Calibri"/>
              </a:defRPr>
            </a:pPr>
            <a:r>
              <a:t>Exam-Flow  |  IEEE TOK-CSES 2026</a:t>
            </a:r>
          </a:p>
        </p:txBody>
      </p:sp>
      <p:sp>
        <p:nvSpPr>
          <p:cNvPr id="5" name="TextBox 4"/>
          <p:cNvSpPr txBox="1"/>
          <p:nvPr/>
        </p:nvSpPr>
        <p:spPr>
          <a:xfrm>
            <a:off x="10789920" y="6355080"/>
            <a:ext cx="777240" cy="320040"/>
          </a:xfrm>
          <a:prstGeom prst="rect">
            <a:avLst/>
          </a:prstGeom>
          <a:noFill/>
        </p:spPr>
        <p:txBody>
          <a:bodyPr wrap="none" lIns="0" tIns="0" rIns="0" bIns="0">
            <a:spAutoFit/>
          </a:bodyPr>
          <a:lstStyle/>
          <a:p>
            <a:pPr algn="r">
              <a:defRPr sz="1000">
                <a:solidFill>
                  <a:srgbClr val="526574"/>
                </a:solidFill>
                <a:latin typeface="Calibri"/>
              </a:defRPr>
            </a:pPr>
            <a:r>
              <a:t>02</a:t>
            </a:r>
          </a:p>
        </p:txBody>
      </p:sp>
      <p:sp>
        <p:nvSpPr>
          <p:cNvPr id="6" name="Rounded Rectangle 5"/>
          <p:cNvSpPr/>
          <p:nvPr/>
        </p:nvSpPr>
        <p:spPr>
          <a:xfrm>
            <a:off x="731520" y="1920240"/>
            <a:ext cx="5120640" cy="3291840"/>
          </a:xfrm>
          <a:prstGeom prst="roundRect">
            <a:avLst/>
          </a:prstGeom>
          <a:solidFill>
            <a:srgbClr val="EBF1F6"/>
          </a:solidFill>
          <a:ln>
            <a:solidFill>
              <a:srgbClr val="CFD8DC"/>
            </a:solidFill>
          </a:ln>
        </p:spPr>
        <p:style>
          <a:lnRef idx="1">
            <a:schemeClr val="accent1"/>
          </a:lnRef>
          <a:fillRef idx="3">
            <a:schemeClr val="accent1"/>
          </a:fillRef>
          <a:effectRef idx="2">
            <a:schemeClr val="accent1"/>
          </a:effectRef>
          <a:fontRef idx="minor">
            <a:schemeClr val="lt1"/>
          </a:fontRef>
        </p:style>
        <p:txBody>
          <a:bodyPr wrap="square" lIns="274320" tIns="274320" rIns="274320" bIns="274320" rtlCol="0" anchor="ctr"/>
          <a:lstStyle/>
          <a:p>
            <a:pPr algn="ctr">
              <a:spcAft>
                <a:spcPts val="1400"/>
              </a:spcAft>
              <a:defRPr sz="1800" b="1">
                <a:solidFill>
                  <a:srgbClr val="153448"/>
                </a:solidFill>
              </a:defRPr>
            </a:pPr>
            <a:endParaRPr dirty="0"/>
          </a:p>
        </p:txBody>
      </p:sp>
      <p:sp>
        <p:nvSpPr>
          <p:cNvPr id="7" name="Rounded Rectangle 6"/>
          <p:cNvSpPr/>
          <p:nvPr/>
        </p:nvSpPr>
        <p:spPr>
          <a:xfrm>
            <a:off x="6309360" y="1920240"/>
            <a:ext cx="5120640" cy="3291840"/>
          </a:xfrm>
          <a:prstGeom prst="roundRect">
            <a:avLst/>
          </a:prstGeom>
          <a:solidFill>
            <a:srgbClr val="EBF1F6"/>
          </a:solidFill>
          <a:ln>
            <a:solidFill>
              <a:srgbClr val="CFD8DC"/>
            </a:solidFill>
          </a:ln>
        </p:spPr>
        <p:style>
          <a:lnRef idx="1">
            <a:schemeClr val="accent1"/>
          </a:lnRef>
          <a:fillRef idx="3">
            <a:schemeClr val="accent1"/>
          </a:fillRef>
          <a:effectRef idx="2">
            <a:schemeClr val="accent1"/>
          </a:effectRef>
          <a:fontRef idx="minor">
            <a:schemeClr val="lt1"/>
          </a:fontRef>
        </p:style>
        <p:txBody>
          <a:bodyPr wrap="square" lIns="274320" tIns="274320" rIns="274320" bIns="274320" rtlCol="0" anchor="ctr"/>
          <a:lstStyle/>
          <a:p>
            <a:pPr algn="ctr">
              <a:spcAft>
                <a:spcPts val="1400"/>
              </a:spcAft>
              <a:defRPr sz="1800" b="1">
                <a:solidFill>
                  <a:srgbClr val="153448"/>
                </a:solidFill>
              </a:defRPr>
            </a:pPr>
            <a:endParaRPr dirty="0"/>
          </a:p>
        </p:txBody>
      </p:sp>
      <p:sp>
        <p:nvSpPr>
          <p:cNvPr id="8" name="TextBox 7"/>
          <p:cNvSpPr txBox="1"/>
          <p:nvPr/>
        </p:nvSpPr>
        <p:spPr>
          <a:xfrm>
            <a:off x="731520" y="5440680"/>
            <a:ext cx="10698480" cy="548640"/>
          </a:xfrm>
          <a:prstGeom prst="rect">
            <a:avLst/>
          </a:prstGeom>
          <a:noFill/>
        </p:spPr>
        <p:txBody>
          <a:bodyPr wrap="none">
            <a:spAutoFit/>
          </a:bodyPr>
          <a:lstStyle/>
          <a:p>
            <a:pPr>
              <a:defRPr sz="1400" b="1">
                <a:solidFill>
                  <a:srgbClr val="087F83"/>
                </a:solidFill>
              </a:defRPr>
            </a:pPr>
            <a:r>
              <a:t>Key Insight: An observation is a reason to investigate—not standalone proof of misconduct.</a:t>
            </a:r>
          </a:p>
        </p:txBody>
      </p:sp>
      <p:sp>
        <p:nvSpPr>
          <p:cNvPr id="12" name="TextBox 11">
            <a:extLst>
              <a:ext uri="{FF2B5EF4-FFF2-40B4-BE49-F238E27FC236}">
                <a16:creationId xmlns:a16="http://schemas.microsoft.com/office/drawing/2014/main" id="{23D4F9BB-BEE7-AFB2-AD4C-F8131B1A99C6}"/>
              </a:ext>
            </a:extLst>
          </p:cNvPr>
          <p:cNvSpPr txBox="1"/>
          <p:nvPr/>
        </p:nvSpPr>
        <p:spPr>
          <a:xfrm>
            <a:off x="914400" y="2304288"/>
            <a:ext cx="4758813" cy="2339102"/>
          </a:xfrm>
          <a:prstGeom prst="rect">
            <a:avLst/>
          </a:prstGeom>
          <a:noFill/>
        </p:spPr>
        <p:txBody>
          <a:bodyPr wrap="square">
            <a:spAutoFit/>
          </a:bodyPr>
          <a:lstStyle/>
          <a:p>
            <a:pPr algn="ctr">
              <a:defRPr sz="1700" b="1">
                <a:solidFill>
                  <a:srgbClr val="153448"/>
                </a:solidFill>
                <a:latin typeface="Calibri"/>
              </a:defRPr>
            </a:pPr>
            <a:r>
              <a:rPr dirty="0"/>
              <a:t>📷  Visual Proctoring (Physical Movements)</a:t>
            </a:r>
            <a:endParaRPr lang="en-US" dirty="0"/>
          </a:p>
          <a:p>
            <a:pPr algn="ctr">
              <a:defRPr sz="1700" b="1">
                <a:solidFill>
                  <a:srgbClr val="153448"/>
                </a:solidFill>
                <a:latin typeface="Calibri"/>
              </a:defRPr>
            </a:pPr>
            <a:endParaRPr dirty="0"/>
          </a:p>
          <a:p>
            <a:pPr>
              <a:defRPr sz="1150">
                <a:solidFill>
                  <a:srgbClr val="526574"/>
                </a:solidFill>
                <a:latin typeface="Calibri"/>
              </a:defRPr>
            </a:pPr>
            <a:r>
              <a:rPr sz="1400" dirty="0"/>
              <a:t>•  Scope: Tracks webcam feed, facial presence, eye gaze, and posture (OpenCV / </a:t>
            </a:r>
            <a:r>
              <a:rPr sz="1400" dirty="0" err="1"/>
              <a:t>MediaPipe</a:t>
            </a:r>
            <a:r>
              <a:rPr sz="1400" dirty="0"/>
              <a:t>).</a:t>
            </a:r>
          </a:p>
          <a:p>
            <a:pPr>
              <a:defRPr sz="1150">
                <a:solidFill>
                  <a:srgbClr val="526574"/>
                </a:solidFill>
                <a:latin typeface="Calibri"/>
              </a:defRPr>
            </a:pPr>
            <a:r>
              <a:rPr sz="1400" dirty="0"/>
              <a:t>•  Isolation Flaw: "Context Blind" — observes movement without understanding intent.</a:t>
            </a:r>
          </a:p>
          <a:p>
            <a:pPr>
              <a:defRPr sz="1150">
                <a:solidFill>
                  <a:srgbClr val="526574"/>
                </a:solidFill>
                <a:latin typeface="Calibri"/>
              </a:defRPr>
            </a:pPr>
            <a:r>
              <a:rPr sz="1400" dirty="0"/>
              <a:t>•  False Alarm Trap: Looking at keyboard to type, thinking, or posture shift gets falsely flagged as cheating.</a:t>
            </a:r>
          </a:p>
          <a:p>
            <a:pPr>
              <a:defRPr sz="1150">
                <a:solidFill>
                  <a:srgbClr val="526574"/>
                </a:solidFill>
                <a:latin typeface="Calibri"/>
              </a:defRPr>
            </a:pPr>
            <a:r>
              <a:rPr sz="1400" dirty="0"/>
              <a:t>•  Exploitation Gap: Student staring straight at camera while pasting external/AI code remains undetected.</a:t>
            </a:r>
          </a:p>
        </p:txBody>
      </p:sp>
      <p:sp>
        <p:nvSpPr>
          <p:cNvPr id="14" name="TextBox 13">
            <a:extLst>
              <a:ext uri="{FF2B5EF4-FFF2-40B4-BE49-F238E27FC236}">
                <a16:creationId xmlns:a16="http://schemas.microsoft.com/office/drawing/2014/main" id="{135CED76-2A69-61A9-A710-8BD67587A233}"/>
              </a:ext>
            </a:extLst>
          </p:cNvPr>
          <p:cNvSpPr txBox="1"/>
          <p:nvPr/>
        </p:nvSpPr>
        <p:spPr>
          <a:xfrm>
            <a:off x="6353114" y="2202188"/>
            <a:ext cx="5166360" cy="2339102"/>
          </a:xfrm>
          <a:prstGeom prst="rect">
            <a:avLst/>
          </a:prstGeom>
          <a:noFill/>
        </p:spPr>
        <p:txBody>
          <a:bodyPr wrap="square">
            <a:spAutoFit/>
          </a:bodyPr>
          <a:lstStyle/>
          <a:p>
            <a:pPr algn="ctr">
              <a:defRPr sz="1700" b="1">
                <a:solidFill>
                  <a:srgbClr val="153448"/>
                </a:solidFill>
                <a:latin typeface="Calibri"/>
              </a:defRPr>
            </a:pPr>
            <a:r>
              <a:rPr dirty="0"/>
              <a:t>💻  Code Analysis (</a:t>
            </a:r>
            <a:r>
              <a:rPr dirty="0" err="1"/>
              <a:t>Autograders</a:t>
            </a:r>
            <a:r>
              <a:rPr dirty="0"/>
              <a:t> &amp; Similarity)</a:t>
            </a:r>
            <a:endParaRPr lang="en-US" dirty="0"/>
          </a:p>
          <a:p>
            <a:pPr algn="ctr">
              <a:defRPr sz="1700" b="1">
                <a:solidFill>
                  <a:srgbClr val="153448"/>
                </a:solidFill>
                <a:latin typeface="Calibri"/>
              </a:defRPr>
            </a:pPr>
            <a:endParaRPr dirty="0"/>
          </a:p>
          <a:p>
            <a:pPr>
              <a:defRPr sz="1150">
                <a:solidFill>
                  <a:srgbClr val="526574"/>
                </a:solidFill>
                <a:latin typeface="Calibri"/>
              </a:defRPr>
            </a:pPr>
            <a:r>
              <a:rPr sz="1400" dirty="0"/>
              <a:t>•  </a:t>
            </a:r>
            <a:r>
              <a:rPr sz="1400" dirty="0" err="1"/>
              <a:t>Autograders</a:t>
            </a:r>
            <a:r>
              <a:rPr sz="1400" dirty="0"/>
              <a:t>: Compile and execute final code against unit tests (verifies correctness, not authorship).</a:t>
            </a:r>
          </a:p>
          <a:p>
            <a:pPr>
              <a:defRPr sz="1150">
                <a:solidFill>
                  <a:srgbClr val="526574"/>
                </a:solidFill>
                <a:latin typeface="Calibri"/>
              </a:defRPr>
            </a:pPr>
            <a:r>
              <a:rPr sz="1400" dirty="0"/>
              <a:t>•  Similarity Detection: Structural token / AST matching against peers (e.g., </a:t>
            </a:r>
            <a:r>
              <a:rPr sz="1400" dirty="0" err="1"/>
              <a:t>JPlag</a:t>
            </a:r>
            <a:r>
              <a:rPr sz="1400" dirty="0"/>
              <a:t>, MOSS winnowing).</a:t>
            </a:r>
          </a:p>
          <a:p>
            <a:pPr>
              <a:defRPr sz="1150">
                <a:solidFill>
                  <a:srgbClr val="526574"/>
                </a:solidFill>
                <a:latin typeface="Calibri"/>
              </a:defRPr>
            </a:pPr>
            <a:r>
              <a:rPr sz="1400" dirty="0"/>
              <a:t>•  Isolation Flaw: "Temporally Blind" — inspects only the final static file at submission.</a:t>
            </a:r>
          </a:p>
          <a:p>
            <a:pPr>
              <a:defRPr sz="1150">
                <a:solidFill>
                  <a:srgbClr val="526574"/>
                </a:solidFill>
                <a:latin typeface="Calibri"/>
              </a:defRPr>
            </a:pPr>
            <a:r>
              <a:rPr sz="1400" dirty="0"/>
              <a:t>•  GenAI Vulnerability: A 100/100 correct program cannot reveal whether it took 2 hours to type or 2 seconds to paste.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9FB"/>
        </a:solidFill>
        <a:effectLst/>
      </p:bgPr>
    </p:bg>
    <p:spTree>
      <p:nvGrpSpPr>
        <p:cNvPr id="1" name=""/>
        <p:cNvGrpSpPr/>
        <p:nvPr/>
      </p:nvGrpSpPr>
      <p:grpSpPr>
        <a:xfrm>
          <a:off x="0" y="0"/>
          <a:ext cx="0" cy="0"/>
          <a:chOff x="0" y="0"/>
          <a:chExt cx="0" cy="0"/>
        </a:xfrm>
      </p:grpSpPr>
      <p:sp>
        <p:nvSpPr>
          <p:cNvPr id="2" name="TextBox 1"/>
          <p:cNvSpPr txBox="1"/>
          <p:nvPr/>
        </p:nvSpPr>
        <p:spPr>
          <a:xfrm>
            <a:off x="603504" y="411480"/>
            <a:ext cx="10972800" cy="731520"/>
          </a:xfrm>
          <a:prstGeom prst="rect">
            <a:avLst/>
          </a:prstGeom>
          <a:noFill/>
        </p:spPr>
        <p:txBody>
          <a:bodyPr wrap="square" lIns="0" tIns="0" rIns="0" bIns="0">
            <a:spAutoFit/>
          </a:bodyPr>
          <a:lstStyle/>
          <a:p>
            <a:pPr>
              <a:defRPr sz="2800" b="1">
                <a:solidFill>
                  <a:srgbClr val="153448"/>
                </a:solidFill>
                <a:latin typeface="Calibri"/>
              </a:defRPr>
            </a:pPr>
            <a:r>
              <a:t>State of the Art: Literature Comparison Matrix</a:t>
            </a:r>
          </a:p>
        </p:txBody>
      </p:sp>
      <p:sp>
        <p:nvSpPr>
          <p:cNvPr id="3" name="TextBox 2"/>
          <p:cNvSpPr txBox="1"/>
          <p:nvPr/>
        </p:nvSpPr>
        <p:spPr>
          <a:xfrm>
            <a:off x="603504" y="1143000"/>
            <a:ext cx="10972800" cy="502920"/>
          </a:xfrm>
          <a:prstGeom prst="rect">
            <a:avLst/>
          </a:prstGeom>
          <a:noFill/>
        </p:spPr>
        <p:txBody>
          <a:bodyPr wrap="square" lIns="0" tIns="0" rIns="0" bIns="0">
            <a:spAutoFit/>
          </a:bodyPr>
          <a:lstStyle/>
          <a:p>
            <a:pPr>
              <a:defRPr sz="1300">
                <a:solidFill>
                  <a:srgbClr val="526574"/>
                </a:solidFill>
                <a:latin typeface="Calibri"/>
              </a:defRPr>
            </a:pPr>
            <a:r>
              <a:t>Benchmarking datasets, open science availability, and core limitations.</a:t>
            </a:r>
          </a:p>
        </p:txBody>
      </p:sp>
      <p:sp>
        <p:nvSpPr>
          <p:cNvPr id="4" name="TextBox 3"/>
          <p:cNvSpPr txBox="1"/>
          <p:nvPr/>
        </p:nvSpPr>
        <p:spPr>
          <a:xfrm>
            <a:off x="603504" y="6355080"/>
            <a:ext cx="9601200" cy="320040"/>
          </a:xfrm>
          <a:prstGeom prst="rect">
            <a:avLst/>
          </a:prstGeom>
          <a:noFill/>
        </p:spPr>
        <p:txBody>
          <a:bodyPr wrap="square" lIns="0" tIns="0" rIns="0" bIns="0">
            <a:spAutoFit/>
          </a:bodyPr>
          <a:lstStyle/>
          <a:p>
            <a:pPr>
              <a:defRPr sz="1000">
                <a:solidFill>
                  <a:srgbClr val="526574"/>
                </a:solidFill>
                <a:latin typeface="Calibri"/>
              </a:defRPr>
            </a:pPr>
            <a:r>
              <a:t>Exam-Flow  |  IEEE TOK-CSES 2026</a:t>
            </a:r>
          </a:p>
        </p:txBody>
      </p:sp>
      <p:sp>
        <p:nvSpPr>
          <p:cNvPr id="5" name="TextBox 4"/>
          <p:cNvSpPr txBox="1"/>
          <p:nvPr/>
        </p:nvSpPr>
        <p:spPr>
          <a:xfrm>
            <a:off x="10789920" y="6355080"/>
            <a:ext cx="777240" cy="320040"/>
          </a:xfrm>
          <a:prstGeom prst="rect">
            <a:avLst/>
          </a:prstGeom>
          <a:noFill/>
        </p:spPr>
        <p:txBody>
          <a:bodyPr wrap="none" lIns="0" tIns="0" rIns="0" bIns="0">
            <a:spAutoFit/>
          </a:bodyPr>
          <a:lstStyle/>
          <a:p>
            <a:pPr algn="r">
              <a:defRPr sz="1000">
                <a:solidFill>
                  <a:srgbClr val="526574"/>
                </a:solidFill>
                <a:latin typeface="Calibri"/>
              </a:defRPr>
            </a:pPr>
            <a:r>
              <a:t>05</a:t>
            </a:r>
          </a:p>
        </p:txBody>
      </p:sp>
      <p:graphicFrame>
        <p:nvGraphicFramePr>
          <p:cNvPr id="6" name="Table 5"/>
          <p:cNvGraphicFramePr>
            <a:graphicFrameLocks noGrp="1"/>
          </p:cNvGraphicFramePr>
          <p:nvPr>
            <p:extLst>
              <p:ext uri="{D42A27DB-BD31-4B8C-83A1-F6EECF244321}">
                <p14:modId xmlns:p14="http://schemas.microsoft.com/office/powerpoint/2010/main" val="1137103423"/>
              </p:ext>
            </p:extLst>
          </p:nvPr>
        </p:nvGraphicFramePr>
        <p:xfrm>
          <a:off x="603504" y="1691640"/>
          <a:ext cx="10972801" cy="4343400"/>
        </p:xfrm>
        <a:graphic>
          <a:graphicData uri="http://schemas.openxmlformats.org/drawingml/2006/table">
            <a:tbl>
              <a:tblPr firstRow="1" bandRow="1">
                <a:tableStyleId>{5C22544A-7EE6-4342-B048-85BDC9FD1C3A}</a:tableStyleId>
              </a:tblPr>
              <a:tblGrid>
                <a:gridCol w="1987826">
                  <a:extLst>
                    <a:ext uri="{9D8B030D-6E8A-4147-A177-3AD203B41FA5}">
                      <a16:colId xmlns:a16="http://schemas.microsoft.com/office/drawing/2014/main" val="20000"/>
                    </a:ext>
                  </a:extLst>
                </a:gridCol>
                <a:gridCol w="1510748">
                  <a:extLst>
                    <a:ext uri="{9D8B030D-6E8A-4147-A177-3AD203B41FA5}">
                      <a16:colId xmlns:a16="http://schemas.microsoft.com/office/drawing/2014/main" val="20001"/>
                    </a:ext>
                  </a:extLst>
                </a:gridCol>
                <a:gridCol w="1590261">
                  <a:extLst>
                    <a:ext uri="{9D8B030D-6E8A-4147-A177-3AD203B41FA5}">
                      <a16:colId xmlns:a16="http://schemas.microsoft.com/office/drawing/2014/main" val="20002"/>
                    </a:ext>
                  </a:extLst>
                </a:gridCol>
                <a:gridCol w="1431235">
                  <a:extLst>
                    <a:ext uri="{9D8B030D-6E8A-4147-A177-3AD203B41FA5}">
                      <a16:colId xmlns:a16="http://schemas.microsoft.com/office/drawing/2014/main" val="1267589281"/>
                    </a:ext>
                  </a:extLst>
                </a:gridCol>
                <a:gridCol w="1431235">
                  <a:extLst>
                    <a:ext uri="{9D8B030D-6E8A-4147-A177-3AD203B41FA5}">
                      <a16:colId xmlns:a16="http://schemas.microsoft.com/office/drawing/2014/main" val="20003"/>
                    </a:ext>
                  </a:extLst>
                </a:gridCol>
                <a:gridCol w="3021496">
                  <a:extLst>
                    <a:ext uri="{9D8B030D-6E8A-4147-A177-3AD203B41FA5}">
                      <a16:colId xmlns:a16="http://schemas.microsoft.com/office/drawing/2014/main" val="20004"/>
                    </a:ext>
                  </a:extLst>
                </a:gridCol>
              </a:tblGrid>
              <a:tr h="434340">
                <a:tc>
                  <a:txBody>
                    <a:bodyPr/>
                    <a:lstStyle/>
                    <a:p>
                      <a:pPr>
                        <a:defRPr sz="1100" b="1">
                          <a:solidFill>
                            <a:srgbClr val="FFFFFF"/>
                          </a:solidFill>
                          <a:latin typeface="Calibri"/>
                        </a:defRPr>
                      </a:pPr>
                      <a:r>
                        <a:t>Paper (Author, Year)</a:t>
                      </a:r>
                    </a:p>
                  </a:txBody>
                  <a:tcPr>
                    <a:solidFill>
                      <a:srgbClr val="153448"/>
                    </a:solidFill>
                  </a:tcPr>
                </a:tc>
                <a:tc>
                  <a:txBody>
                    <a:bodyPr/>
                    <a:lstStyle/>
                    <a:p>
                      <a:pPr>
                        <a:defRPr sz="1100" b="1">
                          <a:solidFill>
                            <a:srgbClr val="FFFFFF"/>
                          </a:solidFill>
                          <a:latin typeface="Calibri"/>
                        </a:defRPr>
                      </a:pPr>
                      <a:r>
                        <a:t>Target Modality</a:t>
                      </a:r>
                    </a:p>
                  </a:txBody>
                  <a:tcPr>
                    <a:solidFill>
                      <a:srgbClr val="153448"/>
                    </a:solidFill>
                  </a:tcPr>
                </a:tc>
                <a:tc>
                  <a:txBody>
                    <a:bodyPr/>
                    <a:lstStyle/>
                    <a:p>
                      <a:pPr>
                        <a:defRPr sz="1100" b="1">
                          <a:solidFill>
                            <a:srgbClr val="FFFFFF"/>
                          </a:solidFill>
                          <a:latin typeface="Calibri"/>
                        </a:defRPr>
                      </a:pPr>
                      <a:r>
                        <a:t>Dataset Used</a:t>
                      </a:r>
                    </a:p>
                  </a:txBody>
                  <a:tcPr>
                    <a:solidFill>
                      <a:srgbClr val="153448"/>
                    </a:solidFill>
                  </a:tcPr>
                </a:tc>
                <a:tc>
                  <a:txBody>
                    <a:bodyPr/>
                    <a:lstStyle/>
                    <a:p>
                      <a:pPr>
                        <a:defRPr sz="1000" b="1">
                          <a:solidFill>
                            <a:srgbClr val="FFFFFF"/>
                          </a:solidFill>
                          <a:latin typeface="Calibri"/>
                        </a:defRPr>
                      </a:pPr>
                      <a:r>
                        <a:t>Temporal Awareness</a:t>
                      </a:r>
                    </a:p>
                  </a:txBody>
                  <a:tcPr>
                    <a:solidFill>
                      <a:srgbClr val="153448"/>
                    </a:solidFill>
                  </a:tcPr>
                </a:tc>
                <a:tc>
                  <a:txBody>
                    <a:bodyPr/>
                    <a:lstStyle/>
                    <a:p>
                      <a:pPr>
                        <a:defRPr sz="1100" b="1">
                          <a:solidFill>
                            <a:srgbClr val="FFFFFF"/>
                          </a:solidFill>
                          <a:latin typeface="Calibri"/>
                        </a:defRPr>
                      </a:pPr>
                      <a:r>
                        <a:rPr dirty="0"/>
                        <a:t>Open Code/Data?</a:t>
                      </a:r>
                    </a:p>
                  </a:txBody>
                  <a:tcPr>
                    <a:solidFill>
                      <a:srgbClr val="153448"/>
                    </a:solidFill>
                  </a:tcPr>
                </a:tc>
                <a:tc>
                  <a:txBody>
                    <a:bodyPr/>
                    <a:lstStyle/>
                    <a:p>
                      <a:pPr>
                        <a:defRPr sz="1100" b="1">
                          <a:solidFill>
                            <a:srgbClr val="FFFFFF"/>
                          </a:solidFill>
                          <a:latin typeface="Calibri"/>
                        </a:defRPr>
                      </a:pPr>
                      <a:r>
                        <a:t>Core Limitation</a:t>
                      </a:r>
                    </a:p>
                  </a:txBody>
                  <a:tcPr>
                    <a:solidFill>
                      <a:srgbClr val="153448"/>
                    </a:solidFill>
                  </a:tcPr>
                </a:tc>
                <a:extLst>
                  <a:ext uri="{0D108BD9-81ED-4DB2-BD59-A6C34878D82A}">
                    <a16:rowId xmlns:a16="http://schemas.microsoft.com/office/drawing/2014/main" val="10000"/>
                  </a:ext>
                </a:extLst>
              </a:tr>
              <a:tr h="434340">
                <a:tc>
                  <a:txBody>
                    <a:bodyPr/>
                    <a:lstStyle/>
                    <a:p>
                      <a:pPr>
                        <a:defRPr sz="1000" b="1">
                          <a:solidFill>
                            <a:srgbClr val="153448"/>
                          </a:solidFill>
                          <a:latin typeface="Calibri"/>
                        </a:defRPr>
                      </a:pPr>
                      <a:r>
                        <a:t>Nigam et al., 2021</a:t>
                      </a:r>
                    </a:p>
                  </a:txBody>
                  <a:tcPr marL="73152" marR="73152" marT="36576" marB="36576">
                    <a:solidFill>
                      <a:srgbClr val="EBF1F6"/>
                    </a:solidFill>
                  </a:tcPr>
                </a:tc>
                <a:tc>
                  <a:txBody>
                    <a:bodyPr/>
                    <a:lstStyle/>
                    <a:p>
                      <a:pPr>
                        <a:defRPr sz="1000" b="0">
                          <a:solidFill>
                            <a:srgbClr val="526574"/>
                          </a:solidFill>
                          <a:latin typeface="Calibri"/>
                        </a:defRPr>
                      </a:pPr>
                      <a:r>
                        <a:t>Webcam (Video)</a:t>
                      </a:r>
                    </a:p>
                  </a:txBody>
                  <a:tcPr marL="73152" marR="73152" marT="36576" marB="36576">
                    <a:solidFill>
                      <a:srgbClr val="EBF1F6"/>
                    </a:solidFill>
                  </a:tcPr>
                </a:tc>
                <a:tc>
                  <a:txBody>
                    <a:bodyPr/>
                    <a:lstStyle/>
                    <a:p>
                      <a:pPr>
                        <a:defRPr sz="1000" b="0">
                          <a:solidFill>
                            <a:srgbClr val="526574"/>
                          </a:solidFill>
                          <a:latin typeface="Calibri"/>
                        </a:defRPr>
                      </a:pPr>
                      <a:r>
                        <a:t>Systematic Review</a:t>
                      </a:r>
                    </a:p>
                  </a:txBody>
                  <a:tcPr marL="73152" marR="73152" marT="36576" marB="36576">
                    <a:solidFill>
                      <a:srgbClr val="EBF1F6"/>
                    </a:solidFill>
                  </a:tcPr>
                </a:tc>
                <a:tc>
                  <a:txBody>
                    <a:bodyPr/>
                    <a:lstStyle/>
                    <a:p>
                      <a:pPr>
                        <a:defRPr sz="900" b="0">
                          <a:solidFill>
                            <a:srgbClr val="526574"/>
                          </a:solidFill>
                          <a:latin typeface="Calibri"/>
                        </a:defRPr>
                      </a:pPr>
                      <a:r>
                        <a:t>Real-time / Post-hoc</a:t>
                      </a:r>
                    </a:p>
                  </a:txBody>
                  <a:tcPr marL="54864" marR="54864" marT="18288" marB="18288">
                    <a:solidFill>
                      <a:srgbClr val="EBF1F6"/>
                    </a:solidFill>
                  </a:tcPr>
                </a:tc>
                <a:tc>
                  <a:txBody>
                    <a:bodyPr/>
                    <a:lstStyle/>
                    <a:p>
                      <a:pPr algn="ctr">
                        <a:defRPr sz="1000" b="1">
                          <a:solidFill>
                            <a:srgbClr val="526574"/>
                          </a:solidFill>
                          <a:latin typeface="Calibri"/>
                        </a:defRPr>
                      </a:pPr>
                      <a:r>
                        <a:t>N/A</a:t>
                      </a:r>
                    </a:p>
                  </a:txBody>
                  <a:tcPr marL="73152" marR="73152" marT="36576" marB="36576">
                    <a:solidFill>
                      <a:srgbClr val="EBF1F6"/>
                    </a:solidFill>
                  </a:tcPr>
                </a:tc>
                <a:tc>
                  <a:txBody>
                    <a:bodyPr/>
                    <a:lstStyle/>
                    <a:p>
                      <a:pPr>
                        <a:defRPr sz="1000" b="0">
                          <a:solidFill>
                            <a:srgbClr val="526574"/>
                          </a:solidFill>
                          <a:latin typeface="Calibri"/>
                        </a:defRPr>
                      </a:pPr>
                      <a:r>
                        <a:t>High false alarms on benign behavior; blind to code.</a:t>
                      </a:r>
                    </a:p>
                  </a:txBody>
                  <a:tcPr marL="73152" marR="73152" marT="36576" marB="36576">
                    <a:solidFill>
                      <a:srgbClr val="EBF1F6"/>
                    </a:solidFill>
                  </a:tcPr>
                </a:tc>
                <a:extLst>
                  <a:ext uri="{0D108BD9-81ED-4DB2-BD59-A6C34878D82A}">
                    <a16:rowId xmlns:a16="http://schemas.microsoft.com/office/drawing/2014/main" val="10001"/>
                  </a:ext>
                </a:extLst>
              </a:tr>
              <a:tr h="434340">
                <a:tc>
                  <a:txBody>
                    <a:bodyPr/>
                    <a:lstStyle/>
                    <a:p>
                      <a:pPr>
                        <a:defRPr sz="1000" b="1">
                          <a:solidFill>
                            <a:srgbClr val="153448"/>
                          </a:solidFill>
                          <a:latin typeface="Calibri"/>
                        </a:defRPr>
                      </a:pPr>
                      <a:r>
                        <a:t>Labayen et al., 2021</a:t>
                      </a:r>
                    </a:p>
                  </a:txBody>
                  <a:tcPr marL="73152" marR="73152" marT="36576" marB="36576">
                    <a:solidFill>
                      <a:srgbClr val="FFFFFF"/>
                    </a:solidFill>
                  </a:tcPr>
                </a:tc>
                <a:tc>
                  <a:txBody>
                    <a:bodyPr/>
                    <a:lstStyle/>
                    <a:p>
                      <a:pPr>
                        <a:defRPr sz="1000" b="0">
                          <a:solidFill>
                            <a:srgbClr val="526574"/>
                          </a:solidFill>
                          <a:latin typeface="Calibri"/>
                        </a:defRPr>
                      </a:pPr>
                      <a:r>
                        <a:t>Video + Biometrics</a:t>
                      </a:r>
                    </a:p>
                  </a:txBody>
                  <a:tcPr marL="73152" marR="73152" marT="36576" marB="36576">
                    <a:solidFill>
                      <a:srgbClr val="FFFFFF"/>
                    </a:solidFill>
                  </a:tcPr>
                </a:tc>
                <a:tc>
                  <a:txBody>
                    <a:bodyPr/>
                    <a:lstStyle/>
                    <a:p>
                      <a:pPr>
                        <a:defRPr sz="1000" b="0">
                          <a:solidFill>
                            <a:srgbClr val="526574"/>
                          </a:solidFill>
                          <a:latin typeface="Calibri"/>
                        </a:defRPr>
                      </a:pPr>
                      <a:r>
                        <a:t>Proprietary Univ. Data</a:t>
                      </a:r>
                    </a:p>
                  </a:txBody>
                  <a:tcPr marL="73152" marR="73152" marT="36576" marB="36576">
                    <a:solidFill>
                      <a:srgbClr val="FFFFFF"/>
                    </a:solidFill>
                  </a:tcPr>
                </a:tc>
                <a:tc>
                  <a:txBody>
                    <a:bodyPr/>
                    <a:lstStyle/>
                    <a:p>
                      <a:pPr>
                        <a:defRPr sz="900" b="0">
                          <a:solidFill>
                            <a:srgbClr val="526574"/>
                          </a:solidFill>
                          <a:latin typeface="Calibri"/>
                        </a:defRPr>
                      </a:pPr>
                      <a:r>
                        <a:t>Continuous</a:t>
                      </a:r>
                    </a:p>
                  </a:txBody>
                  <a:tcPr marL="54864" marR="54864" marT="18288" marB="18288">
                    <a:solidFill>
                      <a:srgbClr val="FFFFFF"/>
                    </a:solidFill>
                  </a:tcPr>
                </a:tc>
                <a:tc>
                  <a:txBody>
                    <a:bodyPr/>
                    <a:lstStyle/>
                    <a:p>
                      <a:pPr algn="ctr">
                        <a:defRPr sz="1000" b="1">
                          <a:solidFill>
                            <a:srgbClr val="DC2626"/>
                          </a:solidFill>
                          <a:latin typeface="Calibri"/>
                        </a:defRPr>
                      </a:pPr>
                      <a:r>
                        <a:t>❌  No</a:t>
                      </a:r>
                    </a:p>
                  </a:txBody>
                  <a:tcPr marL="73152" marR="73152" marT="36576" marB="36576">
                    <a:solidFill>
                      <a:srgbClr val="FFFFFF"/>
                    </a:solidFill>
                  </a:tcPr>
                </a:tc>
                <a:tc>
                  <a:txBody>
                    <a:bodyPr/>
                    <a:lstStyle/>
                    <a:p>
                      <a:pPr>
                        <a:defRPr sz="1000" b="0">
                          <a:solidFill>
                            <a:srgbClr val="526574"/>
                          </a:solidFill>
                          <a:latin typeface="Calibri"/>
                        </a:defRPr>
                      </a:pPr>
                      <a:r>
                        <a:t>Focuses on identity, not process-level code integrity.</a:t>
                      </a:r>
                    </a:p>
                  </a:txBody>
                  <a:tcPr marL="73152" marR="73152" marT="36576" marB="36576">
                    <a:solidFill>
                      <a:srgbClr val="FFFFFF"/>
                    </a:solidFill>
                  </a:tcPr>
                </a:tc>
                <a:extLst>
                  <a:ext uri="{0D108BD9-81ED-4DB2-BD59-A6C34878D82A}">
                    <a16:rowId xmlns:a16="http://schemas.microsoft.com/office/drawing/2014/main" val="10002"/>
                  </a:ext>
                </a:extLst>
              </a:tr>
              <a:tr h="434340">
                <a:tc>
                  <a:txBody>
                    <a:bodyPr/>
                    <a:lstStyle/>
                    <a:p>
                      <a:pPr>
                        <a:defRPr sz="1000" b="1">
                          <a:solidFill>
                            <a:srgbClr val="153448"/>
                          </a:solidFill>
                          <a:latin typeface="Calibri"/>
                        </a:defRPr>
                      </a:pPr>
                      <a:r>
                        <a:t>Prechelt et al., 2002 (JPlag)</a:t>
                      </a:r>
                    </a:p>
                  </a:txBody>
                  <a:tcPr marL="73152" marR="73152" marT="36576" marB="36576">
                    <a:solidFill>
                      <a:srgbClr val="EBF1F6"/>
                    </a:solidFill>
                  </a:tcPr>
                </a:tc>
                <a:tc>
                  <a:txBody>
                    <a:bodyPr/>
                    <a:lstStyle/>
                    <a:p>
                      <a:pPr>
                        <a:defRPr sz="1000" b="0">
                          <a:solidFill>
                            <a:srgbClr val="526574"/>
                          </a:solidFill>
                          <a:latin typeface="Calibri"/>
                        </a:defRPr>
                      </a:pPr>
                      <a:r>
                        <a:t>Source Code</a:t>
                      </a:r>
                    </a:p>
                  </a:txBody>
                  <a:tcPr marL="73152" marR="73152" marT="36576" marB="36576">
                    <a:solidFill>
                      <a:srgbClr val="EBF1F6"/>
                    </a:solidFill>
                  </a:tcPr>
                </a:tc>
                <a:tc>
                  <a:txBody>
                    <a:bodyPr/>
                    <a:lstStyle/>
                    <a:p>
                      <a:pPr>
                        <a:defRPr sz="1000" b="0">
                          <a:solidFill>
                            <a:srgbClr val="526574"/>
                          </a:solidFill>
                          <a:latin typeface="Calibri"/>
                        </a:defRPr>
                      </a:pPr>
                      <a:r>
                        <a:t>Student Submissions</a:t>
                      </a:r>
                    </a:p>
                  </a:txBody>
                  <a:tcPr marL="73152" marR="73152" marT="36576" marB="36576">
                    <a:solidFill>
                      <a:srgbClr val="EBF1F6"/>
                    </a:solidFill>
                  </a:tcPr>
                </a:tc>
                <a:tc>
                  <a:txBody>
                    <a:bodyPr/>
                    <a:lstStyle/>
                    <a:p>
                      <a:pPr>
                        <a:defRPr sz="900" b="0">
                          <a:solidFill>
                            <a:srgbClr val="526574"/>
                          </a:solidFill>
                          <a:latin typeface="Calibri"/>
                        </a:defRPr>
                      </a:pPr>
                      <a:r>
                        <a:t>N/A</a:t>
                      </a:r>
                    </a:p>
                  </a:txBody>
                  <a:tcPr marL="54864" marR="54864" marT="18288" marB="18288">
                    <a:solidFill>
                      <a:srgbClr val="EBF1F6"/>
                    </a:solidFill>
                  </a:tcPr>
                </a:tc>
                <a:tc>
                  <a:txBody>
                    <a:bodyPr/>
                    <a:lstStyle/>
                    <a:p>
                      <a:pPr algn="ctr">
                        <a:defRPr sz="1000" b="1">
                          <a:solidFill>
                            <a:srgbClr val="065F46"/>
                          </a:solidFill>
                          <a:latin typeface="Calibri"/>
                        </a:defRPr>
                      </a:pPr>
                      <a:r>
                        <a:t>✅  Code Open</a:t>
                      </a:r>
                    </a:p>
                  </a:txBody>
                  <a:tcPr marL="73152" marR="73152" marT="36576" marB="36576">
                    <a:solidFill>
                      <a:srgbClr val="EBF1F6"/>
                    </a:solidFill>
                  </a:tcPr>
                </a:tc>
                <a:tc>
                  <a:txBody>
                    <a:bodyPr/>
                    <a:lstStyle/>
                    <a:p>
                      <a:pPr>
                        <a:defRPr sz="1000" b="0">
                          <a:solidFill>
                            <a:srgbClr val="526574"/>
                          </a:solidFill>
                          <a:latin typeface="Calibri"/>
                        </a:defRPr>
                      </a:pPr>
                      <a:r>
                        <a:t>Temporally blind; cannot detect GenAI or copy-paste.</a:t>
                      </a:r>
                    </a:p>
                  </a:txBody>
                  <a:tcPr marL="73152" marR="73152" marT="36576" marB="36576">
                    <a:solidFill>
                      <a:srgbClr val="EBF1F6"/>
                    </a:solidFill>
                  </a:tcPr>
                </a:tc>
                <a:extLst>
                  <a:ext uri="{0D108BD9-81ED-4DB2-BD59-A6C34878D82A}">
                    <a16:rowId xmlns:a16="http://schemas.microsoft.com/office/drawing/2014/main" val="10003"/>
                  </a:ext>
                </a:extLst>
              </a:tr>
              <a:tr h="434340">
                <a:tc>
                  <a:txBody>
                    <a:bodyPr/>
                    <a:lstStyle/>
                    <a:p>
                      <a:pPr>
                        <a:defRPr sz="1000" b="1">
                          <a:solidFill>
                            <a:srgbClr val="153448"/>
                          </a:solidFill>
                          <a:latin typeface="Calibri"/>
                        </a:defRPr>
                      </a:pPr>
                      <a:r>
                        <a:t>Khalil &amp; Er, 2023</a:t>
                      </a:r>
                    </a:p>
                  </a:txBody>
                  <a:tcPr marL="73152" marR="73152" marT="36576" marB="36576">
                    <a:solidFill>
                      <a:srgbClr val="FFFFFF"/>
                    </a:solidFill>
                  </a:tcPr>
                </a:tc>
                <a:tc>
                  <a:txBody>
                    <a:bodyPr/>
                    <a:lstStyle/>
                    <a:p>
                      <a:pPr>
                        <a:defRPr sz="1000" b="0">
                          <a:solidFill>
                            <a:srgbClr val="526574"/>
                          </a:solidFill>
                          <a:latin typeface="Calibri"/>
                        </a:defRPr>
                      </a:pPr>
                      <a:r>
                        <a:t>Text / Code</a:t>
                      </a:r>
                    </a:p>
                  </a:txBody>
                  <a:tcPr marL="73152" marR="73152" marT="36576" marB="36576">
                    <a:solidFill>
                      <a:srgbClr val="FFFFFF"/>
                    </a:solidFill>
                  </a:tcPr>
                </a:tc>
                <a:tc>
                  <a:txBody>
                    <a:bodyPr/>
                    <a:lstStyle/>
                    <a:p>
                      <a:pPr>
                        <a:defRPr sz="1000" b="0">
                          <a:solidFill>
                            <a:srgbClr val="526574"/>
                          </a:solidFill>
                          <a:latin typeface="Calibri"/>
                        </a:defRPr>
                      </a:pPr>
                      <a:r>
                        <a:t>ChatGPT Outputs</a:t>
                      </a:r>
                    </a:p>
                  </a:txBody>
                  <a:tcPr marL="73152" marR="73152" marT="36576" marB="36576">
                    <a:solidFill>
                      <a:srgbClr val="FFFFFF"/>
                    </a:solidFill>
                  </a:tcPr>
                </a:tc>
                <a:tc>
                  <a:txBody>
                    <a:bodyPr/>
                    <a:lstStyle/>
                    <a:p>
                      <a:pPr>
                        <a:defRPr sz="900" b="0">
                          <a:solidFill>
                            <a:srgbClr val="526574"/>
                          </a:solidFill>
                          <a:latin typeface="Calibri"/>
                        </a:defRPr>
                      </a:pPr>
                      <a:r>
                        <a:t>None (Static)</a:t>
                      </a:r>
                    </a:p>
                  </a:txBody>
                  <a:tcPr marL="54864" marR="54864" marT="18288" marB="18288">
                    <a:solidFill>
                      <a:srgbClr val="FFFFFF"/>
                    </a:solidFill>
                  </a:tcPr>
                </a:tc>
                <a:tc>
                  <a:txBody>
                    <a:bodyPr/>
                    <a:lstStyle/>
                    <a:p>
                      <a:pPr algn="ctr">
                        <a:defRPr sz="1000" b="1">
                          <a:solidFill>
                            <a:srgbClr val="DC2626"/>
                          </a:solidFill>
                          <a:latin typeface="Calibri"/>
                        </a:defRPr>
                      </a:pPr>
                      <a:r>
                        <a:t>❌  No</a:t>
                      </a:r>
                    </a:p>
                  </a:txBody>
                  <a:tcPr marL="73152" marR="73152" marT="36576" marB="36576">
                    <a:solidFill>
                      <a:srgbClr val="FFFFFF"/>
                    </a:solidFill>
                  </a:tcPr>
                </a:tc>
                <a:tc>
                  <a:txBody>
                    <a:bodyPr/>
                    <a:lstStyle/>
                    <a:p>
                      <a:pPr>
                        <a:defRPr sz="1000" b="0">
                          <a:solidFill>
                            <a:srgbClr val="526574"/>
                          </a:solidFill>
                          <a:latin typeface="Calibri"/>
                        </a:defRPr>
                      </a:pPr>
                      <a:r>
                        <a:t>Fails against uniquely generated LLM code.</a:t>
                      </a:r>
                    </a:p>
                  </a:txBody>
                  <a:tcPr marL="73152" marR="73152" marT="36576" marB="36576">
                    <a:solidFill>
                      <a:srgbClr val="FFFFFF"/>
                    </a:solidFill>
                  </a:tcPr>
                </a:tc>
                <a:extLst>
                  <a:ext uri="{0D108BD9-81ED-4DB2-BD59-A6C34878D82A}">
                    <a16:rowId xmlns:a16="http://schemas.microsoft.com/office/drawing/2014/main" val="10004"/>
                  </a:ext>
                </a:extLst>
              </a:tr>
              <a:tr h="434340">
                <a:tc>
                  <a:txBody>
                    <a:bodyPr/>
                    <a:lstStyle/>
                    <a:p>
                      <a:pPr>
                        <a:defRPr sz="1000" b="1">
                          <a:solidFill>
                            <a:srgbClr val="153448"/>
                          </a:solidFill>
                          <a:latin typeface="Calibri"/>
                        </a:defRPr>
                      </a:pPr>
                      <a:r>
                        <a:t>Choi et al., 2024 (SaTML)</a:t>
                      </a:r>
                    </a:p>
                  </a:txBody>
                  <a:tcPr marL="73152" marR="73152" marT="36576" marB="36576">
                    <a:solidFill>
                      <a:srgbClr val="EBF1F6"/>
                    </a:solidFill>
                  </a:tcPr>
                </a:tc>
                <a:tc>
                  <a:txBody>
                    <a:bodyPr/>
                    <a:lstStyle/>
                    <a:p>
                      <a:pPr>
                        <a:defRPr sz="1000" b="0">
                          <a:solidFill>
                            <a:srgbClr val="526574"/>
                          </a:solidFill>
                          <a:latin typeface="Calibri"/>
                        </a:defRPr>
                      </a:pPr>
                      <a:r>
                        <a:t>Source Code</a:t>
                      </a:r>
                    </a:p>
                  </a:txBody>
                  <a:tcPr marL="73152" marR="73152" marT="36576" marB="36576">
                    <a:solidFill>
                      <a:srgbClr val="EBF1F6"/>
                    </a:solidFill>
                  </a:tcPr>
                </a:tc>
                <a:tc>
                  <a:txBody>
                    <a:bodyPr/>
                    <a:lstStyle/>
                    <a:p>
                      <a:pPr>
                        <a:defRPr sz="1000" b="0">
                          <a:solidFill>
                            <a:srgbClr val="526574"/>
                          </a:solidFill>
                          <a:latin typeface="Calibri"/>
                        </a:defRPr>
                      </a:pPr>
                      <a:r>
                        <a:t>CodeNet / GitHub</a:t>
                      </a:r>
                    </a:p>
                  </a:txBody>
                  <a:tcPr marL="73152" marR="73152" marT="36576" marB="36576">
                    <a:solidFill>
                      <a:srgbClr val="EBF1F6"/>
                    </a:solidFill>
                  </a:tcPr>
                </a:tc>
                <a:tc>
                  <a:txBody>
                    <a:bodyPr/>
                    <a:lstStyle/>
                    <a:p>
                      <a:pPr>
                        <a:defRPr sz="900" b="0">
                          <a:solidFill>
                            <a:srgbClr val="526574"/>
                          </a:solidFill>
                          <a:latin typeface="Calibri"/>
                        </a:defRPr>
                      </a:pPr>
                      <a:r>
                        <a:t>None (Static)</a:t>
                      </a:r>
                    </a:p>
                  </a:txBody>
                  <a:tcPr marL="54864" marR="54864" marT="18288" marB="18288">
                    <a:solidFill>
                      <a:srgbClr val="EBF1F6"/>
                    </a:solidFill>
                  </a:tcPr>
                </a:tc>
                <a:tc>
                  <a:txBody>
                    <a:bodyPr/>
                    <a:lstStyle/>
                    <a:p>
                      <a:pPr algn="ctr">
                        <a:defRPr sz="1000" b="1">
                          <a:solidFill>
                            <a:srgbClr val="065F46"/>
                          </a:solidFill>
                          <a:latin typeface="Calibri"/>
                        </a:defRPr>
                      </a:pPr>
                      <a:r>
                        <a:t>✅  Code Open</a:t>
                      </a:r>
                    </a:p>
                  </a:txBody>
                  <a:tcPr marL="73152" marR="73152" marT="36576" marB="36576">
                    <a:solidFill>
                      <a:srgbClr val="EBF1F6"/>
                    </a:solidFill>
                  </a:tcPr>
                </a:tc>
                <a:tc>
                  <a:txBody>
                    <a:bodyPr/>
                    <a:lstStyle/>
                    <a:p>
                      <a:pPr>
                        <a:defRPr sz="1000" b="0">
                          <a:solidFill>
                            <a:srgbClr val="526574"/>
                          </a:solidFill>
                          <a:latin typeface="Calibri"/>
                        </a:defRPr>
                      </a:pPr>
                      <a:r>
                        <a:t>Can identify author style, but blind to how code was written.</a:t>
                      </a:r>
                    </a:p>
                  </a:txBody>
                  <a:tcPr marL="73152" marR="73152" marT="36576" marB="36576">
                    <a:solidFill>
                      <a:srgbClr val="EBF1F6"/>
                    </a:solidFill>
                  </a:tcPr>
                </a:tc>
                <a:extLst>
                  <a:ext uri="{0D108BD9-81ED-4DB2-BD59-A6C34878D82A}">
                    <a16:rowId xmlns:a16="http://schemas.microsoft.com/office/drawing/2014/main" val="10005"/>
                  </a:ext>
                </a:extLst>
              </a:tr>
              <a:tr h="434340">
                <a:tc>
                  <a:txBody>
                    <a:bodyPr/>
                    <a:lstStyle/>
                    <a:p>
                      <a:pPr>
                        <a:defRPr sz="1000" b="1">
                          <a:solidFill>
                            <a:srgbClr val="153448"/>
                          </a:solidFill>
                          <a:latin typeface="Calibri"/>
                        </a:defRPr>
                      </a:pPr>
                      <a:r>
                        <a:t>Lamba &amp; Sharma, 2024</a:t>
                      </a:r>
                    </a:p>
                  </a:txBody>
                  <a:tcPr marL="73152" marR="73152" marT="36576" marB="36576">
                    <a:solidFill>
                      <a:srgbClr val="FFFFFF"/>
                    </a:solidFill>
                  </a:tcPr>
                </a:tc>
                <a:tc>
                  <a:txBody>
                    <a:bodyPr/>
                    <a:lstStyle/>
                    <a:p>
                      <a:pPr>
                        <a:defRPr sz="1000" b="0">
                          <a:solidFill>
                            <a:srgbClr val="526574"/>
                          </a:solidFill>
                          <a:latin typeface="Calibri"/>
                        </a:defRPr>
                      </a:pPr>
                      <a:r>
                        <a:t>Video + Audio + Logs</a:t>
                      </a:r>
                    </a:p>
                  </a:txBody>
                  <a:tcPr marL="73152" marR="73152" marT="36576" marB="36576">
                    <a:solidFill>
                      <a:srgbClr val="FFFFFF"/>
                    </a:solidFill>
                  </a:tcPr>
                </a:tc>
                <a:tc>
                  <a:txBody>
                    <a:bodyPr/>
                    <a:lstStyle/>
                    <a:p>
                      <a:pPr>
                        <a:defRPr sz="1000" b="0">
                          <a:solidFill>
                            <a:srgbClr val="526574"/>
                          </a:solidFill>
                          <a:latin typeface="Calibri"/>
                        </a:defRPr>
                      </a:pPr>
                      <a:r>
                        <a:t>Custom Dataset</a:t>
                      </a:r>
                    </a:p>
                  </a:txBody>
                  <a:tcPr marL="73152" marR="73152" marT="36576" marB="36576">
                    <a:solidFill>
                      <a:srgbClr val="FFFFFF"/>
                    </a:solidFill>
                  </a:tcPr>
                </a:tc>
                <a:tc>
                  <a:txBody>
                    <a:bodyPr/>
                    <a:lstStyle/>
                    <a:p>
                      <a:pPr>
                        <a:defRPr sz="900" b="0">
                          <a:solidFill>
                            <a:srgbClr val="526574"/>
                          </a:solidFill>
                          <a:latin typeface="Calibri"/>
                        </a:defRPr>
                      </a:pPr>
                      <a:r>
                        <a:t>None (Static)</a:t>
                      </a:r>
                    </a:p>
                  </a:txBody>
                  <a:tcPr marL="54864" marR="54864" marT="18288" marB="18288">
                    <a:solidFill>
                      <a:srgbClr val="FFFFFF"/>
                    </a:solidFill>
                  </a:tcPr>
                </a:tc>
                <a:tc>
                  <a:txBody>
                    <a:bodyPr/>
                    <a:lstStyle/>
                    <a:p>
                      <a:pPr algn="ctr">
                        <a:defRPr sz="1000" b="1">
                          <a:solidFill>
                            <a:srgbClr val="DC2626"/>
                          </a:solidFill>
                          <a:latin typeface="Calibri"/>
                        </a:defRPr>
                      </a:pPr>
                      <a:r>
                        <a:t>❌  No</a:t>
                      </a:r>
                    </a:p>
                  </a:txBody>
                  <a:tcPr marL="73152" marR="73152" marT="36576" marB="36576">
                    <a:solidFill>
                      <a:srgbClr val="FFFFFF"/>
                    </a:solidFill>
                  </a:tcPr>
                </a:tc>
                <a:tc>
                  <a:txBody>
                    <a:bodyPr/>
                    <a:lstStyle/>
                    <a:p>
                      <a:pPr>
                        <a:defRPr sz="1000" b="0">
                          <a:solidFill>
                            <a:srgbClr val="526574"/>
                          </a:solidFill>
                          <a:latin typeface="Calibri"/>
                        </a:defRPr>
                      </a:pPr>
                      <a:r>
                        <a:t>Parallel data streams; no forensic cross-referencing.</a:t>
                      </a:r>
                    </a:p>
                  </a:txBody>
                  <a:tcPr marL="73152" marR="73152" marT="36576" marB="36576">
                    <a:solidFill>
                      <a:srgbClr val="FFFFFF"/>
                    </a:solidFill>
                  </a:tcPr>
                </a:tc>
                <a:extLst>
                  <a:ext uri="{0D108BD9-81ED-4DB2-BD59-A6C34878D82A}">
                    <a16:rowId xmlns:a16="http://schemas.microsoft.com/office/drawing/2014/main" val="10006"/>
                  </a:ext>
                </a:extLst>
              </a:tr>
              <a:tr h="434340">
                <a:tc>
                  <a:txBody>
                    <a:bodyPr/>
                    <a:lstStyle/>
                    <a:p>
                      <a:pPr>
                        <a:defRPr sz="1000" b="1">
                          <a:solidFill>
                            <a:srgbClr val="153448"/>
                          </a:solidFill>
                          <a:latin typeface="Calibri"/>
                        </a:defRPr>
                      </a:pPr>
                      <a:r>
                        <a:t>Naveen et al., 2025 (AutoOEP)</a:t>
                      </a:r>
                    </a:p>
                  </a:txBody>
                  <a:tcPr marL="73152" marR="73152" marT="36576" marB="36576">
                    <a:solidFill>
                      <a:srgbClr val="EBF1F6"/>
                    </a:solidFill>
                  </a:tcPr>
                </a:tc>
                <a:tc>
                  <a:txBody>
                    <a:bodyPr/>
                    <a:lstStyle/>
                    <a:p>
                      <a:pPr>
                        <a:defRPr sz="1000" b="0">
                          <a:solidFill>
                            <a:srgbClr val="526574"/>
                          </a:solidFill>
                          <a:latin typeface="Calibri"/>
                        </a:defRPr>
                      </a:pPr>
                      <a:r>
                        <a:t>Multi-modal</a:t>
                      </a:r>
                    </a:p>
                  </a:txBody>
                  <a:tcPr marL="73152" marR="73152" marT="36576" marB="36576">
                    <a:solidFill>
                      <a:srgbClr val="EBF1F6"/>
                    </a:solidFill>
                  </a:tcPr>
                </a:tc>
                <a:tc>
                  <a:txBody>
                    <a:bodyPr/>
                    <a:lstStyle/>
                    <a:p>
                      <a:pPr>
                        <a:defRPr sz="1000" b="0">
                          <a:solidFill>
                            <a:srgbClr val="526574"/>
                          </a:solidFill>
                          <a:latin typeface="Calibri"/>
                        </a:defRPr>
                      </a:pPr>
                      <a:r>
                        <a:t>Synthetic Data</a:t>
                      </a:r>
                    </a:p>
                  </a:txBody>
                  <a:tcPr marL="73152" marR="73152" marT="36576" marB="36576">
                    <a:solidFill>
                      <a:srgbClr val="EBF1F6"/>
                    </a:solidFill>
                  </a:tcPr>
                </a:tc>
                <a:tc>
                  <a:txBody>
                    <a:bodyPr/>
                    <a:lstStyle/>
                    <a:p>
                      <a:pPr>
                        <a:defRPr sz="900" b="0">
                          <a:solidFill>
                            <a:srgbClr val="526574"/>
                          </a:solidFill>
                          <a:latin typeface="Calibri"/>
                        </a:defRPr>
                      </a:pPr>
                      <a:r>
                        <a:t>None (Static)</a:t>
                      </a:r>
                    </a:p>
                  </a:txBody>
                  <a:tcPr marL="54864" marR="54864" marT="18288" marB="18288">
                    <a:solidFill>
                      <a:srgbClr val="EBF1F6"/>
                    </a:solidFill>
                  </a:tcPr>
                </a:tc>
                <a:tc>
                  <a:txBody>
                    <a:bodyPr/>
                    <a:lstStyle/>
                    <a:p>
                      <a:pPr algn="ctr">
                        <a:defRPr sz="1000" b="1">
                          <a:solidFill>
                            <a:srgbClr val="DC2626"/>
                          </a:solidFill>
                          <a:latin typeface="Calibri"/>
                        </a:defRPr>
                      </a:pPr>
                      <a:r>
                        <a:t>❌  No</a:t>
                      </a:r>
                    </a:p>
                  </a:txBody>
                  <a:tcPr marL="73152" marR="73152" marT="36576" marB="36576">
                    <a:solidFill>
                      <a:srgbClr val="EBF1F6"/>
                    </a:solidFill>
                  </a:tcPr>
                </a:tc>
                <a:tc>
                  <a:txBody>
                    <a:bodyPr/>
                    <a:lstStyle/>
                    <a:p>
                      <a:pPr>
                        <a:defRPr sz="1000" b="0">
                          <a:solidFill>
                            <a:srgbClr val="526574"/>
                          </a:solidFill>
                          <a:latin typeface="Calibri"/>
                        </a:defRPr>
                      </a:pPr>
                      <a:r>
                        <a:t>Lacks real-world process-level code insertion tracking.</a:t>
                      </a:r>
                    </a:p>
                  </a:txBody>
                  <a:tcPr marL="73152" marR="73152" marT="36576" marB="36576">
                    <a:solidFill>
                      <a:srgbClr val="EBF1F6"/>
                    </a:solidFill>
                  </a:tcPr>
                </a:tc>
                <a:extLst>
                  <a:ext uri="{0D108BD9-81ED-4DB2-BD59-A6C34878D82A}">
                    <a16:rowId xmlns:a16="http://schemas.microsoft.com/office/drawing/2014/main" val="10007"/>
                  </a:ext>
                </a:extLst>
              </a:tr>
              <a:tr h="434340">
                <a:tc>
                  <a:txBody>
                    <a:bodyPr/>
                    <a:lstStyle/>
                    <a:p>
                      <a:pPr>
                        <a:defRPr sz="1000" b="1">
                          <a:solidFill>
                            <a:srgbClr val="153448"/>
                          </a:solidFill>
                          <a:latin typeface="Calibri"/>
                        </a:defRPr>
                      </a:pPr>
                      <a:r>
                        <a:t>Ma et al., 2024 (AgentBoard)</a:t>
                      </a:r>
                    </a:p>
                  </a:txBody>
                  <a:tcPr marL="73152" marR="73152" marT="36576" marB="36576">
                    <a:solidFill>
                      <a:srgbClr val="FFFFFF"/>
                    </a:solidFill>
                  </a:tcPr>
                </a:tc>
                <a:tc>
                  <a:txBody>
                    <a:bodyPr/>
                    <a:lstStyle/>
                    <a:p>
                      <a:pPr>
                        <a:defRPr sz="1000" b="0">
                          <a:solidFill>
                            <a:srgbClr val="526574"/>
                          </a:solidFill>
                          <a:latin typeface="Calibri"/>
                        </a:defRPr>
                      </a:pPr>
                      <a:r>
                        <a:t>Text / UI Actions</a:t>
                      </a:r>
                    </a:p>
                  </a:txBody>
                  <a:tcPr marL="73152" marR="73152" marT="36576" marB="36576">
                    <a:solidFill>
                      <a:srgbClr val="FFFFFF"/>
                    </a:solidFill>
                  </a:tcPr>
                </a:tc>
                <a:tc>
                  <a:txBody>
                    <a:bodyPr/>
                    <a:lstStyle/>
                    <a:p>
                      <a:pPr>
                        <a:defRPr sz="1000" b="0">
                          <a:solidFill>
                            <a:srgbClr val="526574"/>
                          </a:solidFill>
                          <a:latin typeface="Calibri"/>
                        </a:defRPr>
                      </a:pPr>
                      <a:r>
                        <a:t>Agent Trajectories</a:t>
                      </a:r>
                    </a:p>
                  </a:txBody>
                  <a:tcPr marL="73152" marR="73152" marT="36576" marB="36576">
                    <a:solidFill>
                      <a:srgbClr val="FFFFFF"/>
                    </a:solidFill>
                  </a:tcPr>
                </a:tc>
                <a:tc>
                  <a:txBody>
                    <a:bodyPr/>
                    <a:lstStyle/>
                    <a:p>
                      <a:pPr>
                        <a:defRPr sz="900" b="0">
                          <a:solidFill>
                            <a:srgbClr val="526574"/>
                          </a:solidFill>
                          <a:latin typeface="Calibri"/>
                        </a:defRPr>
                      </a:pPr>
                      <a:r>
                        <a:t>Windowed logs</a:t>
                      </a:r>
                    </a:p>
                  </a:txBody>
                  <a:tcPr marL="54864" marR="54864" marT="18288" marB="18288">
                    <a:solidFill>
                      <a:srgbClr val="FFFFFF"/>
                    </a:solidFill>
                  </a:tcPr>
                </a:tc>
                <a:tc>
                  <a:txBody>
                    <a:bodyPr/>
                    <a:lstStyle/>
                    <a:p>
                      <a:pPr algn="ctr">
                        <a:defRPr sz="1000" b="1">
                          <a:solidFill>
                            <a:srgbClr val="065F46"/>
                          </a:solidFill>
                          <a:latin typeface="Calibri"/>
                        </a:defRPr>
                      </a:pPr>
                      <a:r>
                        <a:t>✅  Code Open</a:t>
                      </a:r>
                    </a:p>
                  </a:txBody>
                  <a:tcPr marL="73152" marR="73152" marT="36576" marB="36576">
                    <a:solidFill>
                      <a:srgbClr val="FFFFFF"/>
                    </a:solidFill>
                  </a:tcPr>
                </a:tc>
                <a:tc>
                  <a:txBody>
                    <a:bodyPr/>
                    <a:lstStyle/>
                    <a:p>
                      <a:pPr>
                        <a:defRPr sz="1000" b="0">
                          <a:solidFill>
                            <a:srgbClr val="526574"/>
                          </a:solidFill>
                          <a:latin typeface="Calibri"/>
                        </a:defRPr>
                      </a:pPr>
                      <a:r>
                        <a:t>Evaluates generic agent tasks, not live academic integrity.</a:t>
                      </a:r>
                    </a:p>
                  </a:txBody>
                  <a:tcPr marL="73152" marR="73152" marT="36576" marB="36576">
                    <a:solidFill>
                      <a:srgbClr val="FFFFFF"/>
                    </a:solidFill>
                  </a:tcPr>
                </a:tc>
                <a:extLst>
                  <a:ext uri="{0D108BD9-81ED-4DB2-BD59-A6C34878D82A}">
                    <a16:rowId xmlns:a16="http://schemas.microsoft.com/office/drawing/2014/main" val="10008"/>
                  </a:ext>
                </a:extLst>
              </a:tr>
              <a:tr h="434340">
                <a:tc>
                  <a:txBody>
                    <a:bodyPr/>
                    <a:lstStyle/>
                    <a:p>
                      <a:pPr>
                        <a:defRPr sz="1000" b="1">
                          <a:solidFill>
                            <a:srgbClr val="065F46"/>
                          </a:solidFill>
                          <a:latin typeface="Calibri"/>
                        </a:defRPr>
                      </a:pPr>
                      <a:r>
                        <a:t>Exam-Flow (Ours)</a:t>
                      </a:r>
                    </a:p>
                  </a:txBody>
                  <a:tcPr marL="73152" marR="73152" marT="36576" marB="36576">
                    <a:solidFill>
                      <a:srgbClr val="DCFCE7"/>
                    </a:solidFill>
                  </a:tcPr>
                </a:tc>
                <a:tc>
                  <a:txBody>
                    <a:bodyPr/>
                    <a:lstStyle/>
                    <a:p>
                      <a:pPr>
                        <a:defRPr sz="1000" b="1">
                          <a:solidFill>
                            <a:srgbClr val="065F46"/>
                          </a:solidFill>
                          <a:latin typeface="Calibri"/>
                        </a:defRPr>
                      </a:pPr>
                      <a:r>
                        <a:t>Video + Screen + Code</a:t>
                      </a:r>
                    </a:p>
                  </a:txBody>
                  <a:tcPr marL="73152" marR="73152" marT="36576" marB="36576">
                    <a:solidFill>
                      <a:srgbClr val="DCFCE7"/>
                    </a:solidFill>
                  </a:tcPr>
                </a:tc>
                <a:tc>
                  <a:txBody>
                    <a:bodyPr/>
                    <a:lstStyle/>
                    <a:p>
                      <a:pPr>
                        <a:defRPr sz="1000" b="1">
                          <a:solidFill>
                            <a:srgbClr val="065F46"/>
                          </a:solidFill>
                          <a:latin typeface="Calibri"/>
                        </a:defRPr>
                      </a:pPr>
                      <a:r>
                        <a:rPr dirty="0"/>
                        <a:t>4 Curated Scenarios</a:t>
                      </a:r>
                    </a:p>
                  </a:txBody>
                  <a:tcPr marL="73152" marR="73152" marT="36576" marB="36576">
                    <a:solidFill>
                      <a:srgbClr val="DCFCE7"/>
                    </a:solidFill>
                  </a:tcPr>
                </a:tc>
                <a:tc>
                  <a:txBody>
                    <a:bodyPr/>
                    <a:lstStyle/>
                    <a:p>
                      <a:pPr>
                        <a:defRPr sz="900" b="0">
                          <a:solidFill>
                            <a:srgbClr val="526574"/>
                          </a:solidFill>
                          <a:latin typeface="Calibri"/>
                        </a:defRPr>
                      </a:pPr>
                      <a:r>
                        <a:rPr dirty="0"/>
                        <a:t>Real-time</a:t>
                      </a:r>
                    </a:p>
                  </a:txBody>
                  <a:tcPr marL="54864" marR="54864" marT="18288" marB="18288">
                    <a:solidFill>
                      <a:srgbClr val="DCFCE7"/>
                    </a:solidFill>
                  </a:tcPr>
                </a:tc>
                <a:tc>
                  <a:txBody>
                    <a:bodyPr/>
                    <a:lstStyle/>
                    <a:p>
                      <a:pPr algn="ctr">
                        <a:defRPr sz="1000" b="1">
                          <a:solidFill>
                            <a:srgbClr val="065F46"/>
                          </a:solidFill>
                          <a:latin typeface="Calibri"/>
                        </a:defRPr>
                      </a:pPr>
                      <a:r>
                        <a:t>✅  Code + Data Open</a:t>
                      </a:r>
                    </a:p>
                  </a:txBody>
                  <a:tcPr marL="73152" marR="73152" marT="36576" marB="36576">
                    <a:solidFill>
                      <a:srgbClr val="DCFCE7"/>
                    </a:solidFill>
                  </a:tcPr>
                </a:tc>
                <a:tc>
                  <a:txBody>
                    <a:bodyPr/>
                    <a:lstStyle/>
                    <a:p>
                      <a:pPr>
                        <a:defRPr sz="1000" b="1">
                          <a:solidFill>
                            <a:srgbClr val="065F46"/>
                          </a:solidFill>
                          <a:latin typeface="Calibri"/>
                        </a:defRPr>
                      </a:pPr>
                      <a:r>
                        <a:rPr dirty="0"/>
                        <a:t>Proof-of-concept; requires human-in-the-loop review.</a:t>
                      </a:r>
                    </a:p>
                  </a:txBody>
                  <a:tcPr marL="73152" marR="73152" marT="36576" marB="36576">
                    <a:solidFill>
                      <a:srgbClr val="DCFCE7"/>
                    </a:solidFill>
                  </a:tcPr>
                </a:tc>
                <a:extLst>
                  <a:ext uri="{0D108BD9-81ED-4DB2-BD59-A6C34878D82A}">
                    <a16:rowId xmlns:a16="http://schemas.microsoft.com/office/drawing/2014/main" val="10009"/>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9FB"/>
        </a:solidFill>
        <a:effectLst/>
      </p:bgPr>
    </p:bg>
    <p:spTree>
      <p:nvGrpSpPr>
        <p:cNvPr id="1" name=""/>
        <p:cNvGrpSpPr/>
        <p:nvPr/>
      </p:nvGrpSpPr>
      <p:grpSpPr>
        <a:xfrm>
          <a:off x="0" y="0"/>
          <a:ext cx="0" cy="0"/>
          <a:chOff x="0" y="0"/>
          <a:chExt cx="0" cy="0"/>
        </a:xfrm>
      </p:grpSpPr>
      <p:sp>
        <p:nvSpPr>
          <p:cNvPr id="2" name="TextBox 1"/>
          <p:cNvSpPr txBox="1"/>
          <p:nvPr/>
        </p:nvSpPr>
        <p:spPr>
          <a:xfrm>
            <a:off x="603504" y="411480"/>
            <a:ext cx="10972800" cy="777240"/>
          </a:xfrm>
          <a:prstGeom prst="rect">
            <a:avLst/>
          </a:prstGeom>
          <a:noFill/>
        </p:spPr>
        <p:txBody>
          <a:bodyPr wrap="square" lIns="0" tIns="0" rIns="0" bIns="0">
            <a:spAutoFit/>
          </a:bodyPr>
          <a:lstStyle/>
          <a:p>
            <a:pPr>
              <a:defRPr sz="2800" b="1">
                <a:solidFill>
                  <a:srgbClr val="153448"/>
                </a:solidFill>
                <a:latin typeface="Calibri"/>
              </a:defRPr>
            </a:pPr>
            <a:r>
              <a:t>Exam-Flow Architecture</a:t>
            </a:r>
          </a:p>
        </p:txBody>
      </p:sp>
      <p:sp>
        <p:nvSpPr>
          <p:cNvPr id="3" name="TextBox 2"/>
          <p:cNvSpPr txBox="1"/>
          <p:nvPr/>
        </p:nvSpPr>
        <p:spPr>
          <a:xfrm>
            <a:off x="603504" y="1170432"/>
            <a:ext cx="10972800" cy="502920"/>
          </a:xfrm>
          <a:prstGeom prst="rect">
            <a:avLst/>
          </a:prstGeom>
          <a:noFill/>
        </p:spPr>
        <p:txBody>
          <a:bodyPr wrap="square" lIns="0" tIns="0" rIns="0" bIns="0">
            <a:spAutoFit/>
          </a:bodyPr>
          <a:lstStyle/>
          <a:p>
            <a:pPr>
              <a:defRPr sz="1300">
                <a:solidFill>
                  <a:srgbClr val="526574"/>
                </a:solidFill>
                <a:latin typeface="Calibri"/>
              </a:defRPr>
            </a:pPr>
            <a:r>
              <a:t>Four sequential stages from reference grounding to verified multi-agent synthesis.</a:t>
            </a:r>
          </a:p>
        </p:txBody>
      </p:sp>
      <p:sp>
        <p:nvSpPr>
          <p:cNvPr id="4" name="TextBox 3"/>
          <p:cNvSpPr txBox="1"/>
          <p:nvPr/>
        </p:nvSpPr>
        <p:spPr>
          <a:xfrm>
            <a:off x="603504" y="6355080"/>
            <a:ext cx="9601200" cy="320040"/>
          </a:xfrm>
          <a:prstGeom prst="rect">
            <a:avLst/>
          </a:prstGeom>
          <a:noFill/>
        </p:spPr>
        <p:txBody>
          <a:bodyPr wrap="square" lIns="0" tIns="0" rIns="0" bIns="0">
            <a:spAutoFit/>
          </a:bodyPr>
          <a:lstStyle/>
          <a:p>
            <a:pPr>
              <a:defRPr sz="1000">
                <a:solidFill>
                  <a:srgbClr val="526574"/>
                </a:solidFill>
                <a:latin typeface="Calibri"/>
              </a:defRPr>
            </a:pPr>
            <a:r>
              <a:t>Exam-Flow  |  IEEE TOK-CSES 2026</a:t>
            </a:r>
          </a:p>
        </p:txBody>
      </p:sp>
      <p:sp>
        <p:nvSpPr>
          <p:cNvPr id="5" name="TextBox 4"/>
          <p:cNvSpPr txBox="1"/>
          <p:nvPr/>
        </p:nvSpPr>
        <p:spPr>
          <a:xfrm>
            <a:off x="10789920" y="6355080"/>
            <a:ext cx="777240" cy="320040"/>
          </a:xfrm>
          <a:prstGeom prst="rect">
            <a:avLst/>
          </a:prstGeom>
          <a:noFill/>
        </p:spPr>
        <p:txBody>
          <a:bodyPr wrap="none" lIns="0" tIns="0" rIns="0" bIns="0">
            <a:spAutoFit/>
          </a:bodyPr>
          <a:lstStyle/>
          <a:p>
            <a:pPr algn="r">
              <a:defRPr sz="1000">
                <a:solidFill>
                  <a:srgbClr val="526574"/>
                </a:solidFill>
                <a:latin typeface="Calibri"/>
              </a:defRPr>
            </a:pPr>
            <a:r>
              <a:t>06</a:t>
            </a:r>
          </a:p>
        </p:txBody>
      </p:sp>
      <p:pic>
        <p:nvPicPr>
          <p:cNvPr id="6" name="Picture 5" descr="image.png"/>
          <p:cNvPicPr>
            <a:picLocks noChangeAspect="1"/>
          </p:cNvPicPr>
          <p:nvPr/>
        </p:nvPicPr>
        <p:blipFill>
          <a:blip r:embed="rId3"/>
          <a:stretch>
            <a:fillRect/>
          </a:stretch>
        </p:blipFill>
        <p:spPr>
          <a:xfrm>
            <a:off x="3163824" y="1645920"/>
            <a:ext cx="5852160" cy="3102574"/>
          </a:xfrm>
          <a:prstGeom prst="rect">
            <a:avLst/>
          </a:prstGeom>
        </p:spPr>
      </p:pic>
      <p:sp>
        <p:nvSpPr>
          <p:cNvPr id="7" name="TextBox 6"/>
          <p:cNvSpPr txBox="1"/>
          <p:nvPr/>
        </p:nvSpPr>
        <p:spPr>
          <a:xfrm>
            <a:off x="603504" y="4892040"/>
            <a:ext cx="2606040" cy="1280160"/>
          </a:xfrm>
          <a:prstGeom prst="rect">
            <a:avLst/>
          </a:prstGeom>
          <a:noFill/>
        </p:spPr>
        <p:txBody>
          <a:bodyPr wrap="square" lIns="137160" tIns="109728" rIns="137160" bIns="91440">
            <a:spAutoFit/>
          </a:bodyPr>
          <a:lstStyle/>
          <a:p>
            <a:pPr algn="ctr">
              <a:defRPr sz="1200" b="1">
                <a:solidFill>
                  <a:srgbClr val="153448"/>
                </a:solidFill>
                <a:latin typeface="Calibri"/>
              </a:defRPr>
            </a:pPr>
            <a:r>
              <a:t>Stage 1: Knowledge Injection</a:t>
            </a:r>
          </a:p>
          <a:p>
            <a:pPr>
              <a:defRPr sz="1000">
                <a:solidFill>
                  <a:srgbClr val="526574"/>
                </a:solidFill>
                <a:latin typeface="Calibri"/>
              </a:defRPr>
            </a:pPr>
            <a:r>
              <a:t>Grounds the AI with reference code and rubrics in ChromaDB RAG.</a:t>
            </a:r>
          </a:p>
        </p:txBody>
      </p:sp>
      <p:sp>
        <p:nvSpPr>
          <p:cNvPr id="8" name="TextBox 7"/>
          <p:cNvSpPr txBox="1"/>
          <p:nvPr/>
        </p:nvSpPr>
        <p:spPr>
          <a:xfrm>
            <a:off x="3392424" y="4892040"/>
            <a:ext cx="2606040" cy="1280160"/>
          </a:xfrm>
          <a:prstGeom prst="rect">
            <a:avLst/>
          </a:prstGeom>
          <a:noFill/>
        </p:spPr>
        <p:txBody>
          <a:bodyPr wrap="square" lIns="137160" tIns="109728" rIns="137160" bIns="91440">
            <a:spAutoFit/>
          </a:bodyPr>
          <a:lstStyle/>
          <a:p>
            <a:pPr algn="ctr">
              <a:defRPr sz="1200" b="1">
                <a:solidFill>
                  <a:srgbClr val="153448"/>
                </a:solidFill>
                <a:latin typeface="Calibri"/>
              </a:defRPr>
            </a:pPr>
            <a:r>
              <a:t>Stage 2: Asset Preparation</a:t>
            </a:r>
          </a:p>
          <a:p>
            <a:pPr>
              <a:defRPr sz="1000">
                <a:solidFill>
                  <a:srgbClr val="526574"/>
                </a:solidFill>
                <a:latin typeface="Calibri"/>
              </a:defRPr>
            </a:pPr>
            <a:r>
              <a:t>Synchronizes webcam video, screen recording, and submitted code.</a:t>
            </a:r>
          </a:p>
        </p:txBody>
      </p:sp>
      <p:sp>
        <p:nvSpPr>
          <p:cNvPr id="9" name="TextBox 8"/>
          <p:cNvSpPr txBox="1"/>
          <p:nvPr/>
        </p:nvSpPr>
        <p:spPr>
          <a:xfrm>
            <a:off x="6181344" y="4892040"/>
            <a:ext cx="2606040" cy="1280160"/>
          </a:xfrm>
          <a:prstGeom prst="rect">
            <a:avLst/>
          </a:prstGeom>
          <a:noFill/>
        </p:spPr>
        <p:txBody>
          <a:bodyPr wrap="square" lIns="137160" tIns="109728" rIns="137160" bIns="91440">
            <a:spAutoFit/>
          </a:bodyPr>
          <a:lstStyle/>
          <a:p>
            <a:pPr algn="ctr">
              <a:defRPr sz="1200" b="1">
                <a:solidFill>
                  <a:srgbClr val="153448"/>
                </a:solidFill>
                <a:latin typeface="Calibri"/>
              </a:defRPr>
            </a:pPr>
            <a:r>
              <a:t>Stage 3: Multi-Agent Processing</a:t>
            </a:r>
          </a:p>
          <a:p>
            <a:pPr>
              <a:defRPr sz="1000">
                <a:solidFill>
                  <a:srgbClr val="526574"/>
                </a:solidFill>
                <a:latin typeface="Calibri"/>
              </a:defRPr>
            </a:pPr>
            <a:r>
              <a:t>Extracts behavioral anomalies (VP) and sudden logic events (CR).</a:t>
            </a:r>
          </a:p>
        </p:txBody>
      </p:sp>
      <p:sp>
        <p:nvSpPr>
          <p:cNvPr id="10" name="TextBox 9"/>
          <p:cNvSpPr txBox="1"/>
          <p:nvPr/>
        </p:nvSpPr>
        <p:spPr>
          <a:xfrm>
            <a:off x="8970264" y="4892040"/>
            <a:ext cx="2606040" cy="1280160"/>
          </a:xfrm>
          <a:prstGeom prst="rect">
            <a:avLst/>
          </a:prstGeom>
          <a:noFill/>
        </p:spPr>
        <p:txBody>
          <a:bodyPr wrap="square" lIns="137160" tIns="109728" rIns="137160" bIns="91440">
            <a:spAutoFit/>
          </a:bodyPr>
          <a:lstStyle/>
          <a:p>
            <a:pPr algn="ctr">
              <a:defRPr sz="1200" b="1">
                <a:solidFill>
                  <a:srgbClr val="153448"/>
                </a:solidFill>
                <a:latin typeface="Calibri"/>
              </a:defRPr>
            </a:pPr>
            <a:r>
              <a:t>Stage 4: Synthesis &amp; Grading</a:t>
            </a:r>
          </a:p>
          <a:p>
            <a:pPr>
              <a:defRPr sz="1000">
                <a:solidFill>
                  <a:srgbClr val="526574"/>
                </a:solidFill>
                <a:latin typeface="Calibri"/>
              </a:defRPr>
            </a:pPr>
            <a:r>
              <a:t>Cross-references evidence (IA) and applies the grade cap (FG).</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9FB"/>
        </a:solidFill>
        <a:effectLst/>
      </p:bgPr>
    </p:bg>
    <p:spTree>
      <p:nvGrpSpPr>
        <p:cNvPr id="1" name=""/>
        <p:cNvGrpSpPr/>
        <p:nvPr/>
      </p:nvGrpSpPr>
      <p:grpSpPr>
        <a:xfrm>
          <a:off x="0" y="0"/>
          <a:ext cx="0" cy="0"/>
          <a:chOff x="0" y="0"/>
          <a:chExt cx="0" cy="0"/>
        </a:xfrm>
      </p:grpSpPr>
      <p:sp>
        <p:nvSpPr>
          <p:cNvPr id="2" name="TextBox 1"/>
          <p:cNvSpPr txBox="1"/>
          <p:nvPr/>
        </p:nvSpPr>
        <p:spPr>
          <a:xfrm>
            <a:off x="603504" y="411480"/>
            <a:ext cx="10972800" cy="777240"/>
          </a:xfrm>
          <a:prstGeom prst="rect">
            <a:avLst/>
          </a:prstGeom>
          <a:noFill/>
        </p:spPr>
        <p:txBody>
          <a:bodyPr wrap="square" lIns="0" tIns="0" rIns="0" bIns="0">
            <a:spAutoFit/>
          </a:bodyPr>
          <a:lstStyle/>
          <a:p>
            <a:pPr>
              <a:defRPr sz="2800" b="1">
                <a:solidFill>
                  <a:srgbClr val="153448"/>
                </a:solidFill>
                <a:latin typeface="Calibri"/>
              </a:defRPr>
            </a:pPr>
            <a:r>
              <a:t>Agent Roles &amp; Targeted Prompts</a:t>
            </a:r>
          </a:p>
        </p:txBody>
      </p:sp>
      <p:sp>
        <p:nvSpPr>
          <p:cNvPr id="3" name="TextBox 2"/>
          <p:cNvSpPr txBox="1"/>
          <p:nvPr/>
        </p:nvSpPr>
        <p:spPr>
          <a:xfrm>
            <a:off x="603504" y="1170432"/>
            <a:ext cx="10972800" cy="502920"/>
          </a:xfrm>
          <a:prstGeom prst="rect">
            <a:avLst/>
          </a:prstGeom>
          <a:noFill/>
        </p:spPr>
        <p:txBody>
          <a:bodyPr wrap="square" lIns="0" tIns="0" rIns="0" bIns="0">
            <a:spAutoFit/>
          </a:bodyPr>
          <a:lstStyle/>
          <a:p>
            <a:pPr>
              <a:defRPr sz="1400">
                <a:solidFill>
                  <a:srgbClr val="526574"/>
                </a:solidFill>
                <a:latin typeface="Calibri"/>
              </a:defRPr>
            </a:pPr>
            <a:r>
              <a:t>Table I from the paper: Exact prompt instructions and requested output schemas.</a:t>
            </a:r>
          </a:p>
        </p:txBody>
      </p:sp>
      <p:sp>
        <p:nvSpPr>
          <p:cNvPr id="4" name="TextBox 3"/>
          <p:cNvSpPr txBox="1"/>
          <p:nvPr/>
        </p:nvSpPr>
        <p:spPr>
          <a:xfrm>
            <a:off x="603504" y="6355080"/>
            <a:ext cx="9601200" cy="320040"/>
          </a:xfrm>
          <a:prstGeom prst="rect">
            <a:avLst/>
          </a:prstGeom>
          <a:noFill/>
        </p:spPr>
        <p:txBody>
          <a:bodyPr wrap="square" lIns="0" tIns="0" rIns="0" bIns="0">
            <a:spAutoFit/>
          </a:bodyPr>
          <a:lstStyle/>
          <a:p>
            <a:pPr>
              <a:defRPr sz="1000">
                <a:solidFill>
                  <a:srgbClr val="526574"/>
                </a:solidFill>
                <a:latin typeface="Calibri"/>
              </a:defRPr>
            </a:pPr>
            <a:r>
              <a:t>Exam-Flow  |  IEEE TOK-CSES 2026</a:t>
            </a:r>
          </a:p>
        </p:txBody>
      </p:sp>
      <p:sp>
        <p:nvSpPr>
          <p:cNvPr id="5" name="TextBox 4"/>
          <p:cNvSpPr txBox="1"/>
          <p:nvPr/>
        </p:nvSpPr>
        <p:spPr>
          <a:xfrm>
            <a:off x="10789920" y="6355080"/>
            <a:ext cx="777240" cy="320040"/>
          </a:xfrm>
          <a:prstGeom prst="rect">
            <a:avLst/>
          </a:prstGeom>
          <a:noFill/>
        </p:spPr>
        <p:txBody>
          <a:bodyPr wrap="none" lIns="0" tIns="0" rIns="0" bIns="0">
            <a:spAutoFit/>
          </a:bodyPr>
          <a:lstStyle/>
          <a:p>
            <a:pPr algn="r">
              <a:defRPr sz="1000">
                <a:solidFill>
                  <a:srgbClr val="526574"/>
                </a:solidFill>
                <a:latin typeface="Calibri"/>
              </a:defRPr>
            </a:pPr>
            <a:r>
              <a:t>07</a:t>
            </a:r>
          </a:p>
        </p:txBody>
      </p:sp>
      <p:graphicFrame>
        <p:nvGraphicFramePr>
          <p:cNvPr id="6" name="Table 5"/>
          <p:cNvGraphicFramePr>
            <a:graphicFrameLocks noGrp="1"/>
          </p:cNvGraphicFramePr>
          <p:nvPr/>
        </p:nvGraphicFramePr>
        <p:xfrm>
          <a:off x="731520" y="1828800"/>
          <a:ext cx="10725912" cy="3931920"/>
        </p:xfrm>
        <a:graphic>
          <a:graphicData uri="http://schemas.openxmlformats.org/drawingml/2006/table">
            <a:tbl>
              <a:tblPr firstRow="1" bandRow="1">
                <a:tableStyleId>{5C22544A-7EE6-4342-B048-85BDC9FD1C3A}</a:tableStyleId>
              </a:tblPr>
              <a:tblGrid>
                <a:gridCol w="2194560">
                  <a:extLst>
                    <a:ext uri="{9D8B030D-6E8A-4147-A177-3AD203B41FA5}">
                      <a16:colId xmlns:a16="http://schemas.microsoft.com/office/drawing/2014/main" val="20000"/>
                    </a:ext>
                  </a:extLst>
                </a:gridCol>
                <a:gridCol w="5303520">
                  <a:extLst>
                    <a:ext uri="{9D8B030D-6E8A-4147-A177-3AD203B41FA5}">
                      <a16:colId xmlns:a16="http://schemas.microsoft.com/office/drawing/2014/main" val="20001"/>
                    </a:ext>
                  </a:extLst>
                </a:gridCol>
                <a:gridCol w="3227832">
                  <a:extLst>
                    <a:ext uri="{9D8B030D-6E8A-4147-A177-3AD203B41FA5}">
                      <a16:colId xmlns:a16="http://schemas.microsoft.com/office/drawing/2014/main" val="20002"/>
                    </a:ext>
                  </a:extLst>
                </a:gridCol>
              </a:tblGrid>
              <a:tr h="786384">
                <a:tc>
                  <a:txBody>
                    <a:bodyPr/>
                    <a:lstStyle/>
                    <a:p>
                      <a:pPr>
                        <a:defRPr sz="1300" b="1">
                          <a:solidFill>
                            <a:srgbClr val="FFFFFF"/>
                          </a:solidFill>
                          <a:latin typeface="Calibri"/>
                        </a:defRPr>
                      </a:pPr>
                      <a:r>
                        <a:t>Agent Role</a:t>
                      </a:r>
                    </a:p>
                  </a:txBody>
                  <a:tcPr>
                    <a:solidFill>
                      <a:srgbClr val="153448"/>
                    </a:solidFill>
                  </a:tcPr>
                </a:tc>
                <a:tc>
                  <a:txBody>
                    <a:bodyPr/>
                    <a:lstStyle/>
                    <a:p>
                      <a:pPr>
                        <a:defRPr sz="1300" b="1">
                          <a:solidFill>
                            <a:srgbClr val="FFFFFF"/>
                          </a:solidFill>
                          <a:latin typeface="Calibri"/>
                        </a:defRPr>
                      </a:pPr>
                      <a:r>
                        <a:t>Exact Prompt Excerpt (Table I)</a:t>
                      </a:r>
                    </a:p>
                  </a:txBody>
                  <a:tcPr>
                    <a:solidFill>
                      <a:srgbClr val="153448"/>
                    </a:solidFill>
                  </a:tcPr>
                </a:tc>
                <a:tc>
                  <a:txBody>
                    <a:bodyPr/>
                    <a:lstStyle/>
                    <a:p>
                      <a:pPr>
                        <a:defRPr sz="1300" b="1">
                          <a:solidFill>
                            <a:srgbClr val="FFFFFF"/>
                          </a:solidFill>
                          <a:latin typeface="Calibri"/>
                        </a:defRPr>
                      </a:pPr>
                      <a:r>
                        <a:t>Output Fields</a:t>
                      </a:r>
                    </a:p>
                  </a:txBody>
                  <a:tcPr>
                    <a:solidFill>
                      <a:srgbClr val="153448"/>
                    </a:solidFill>
                  </a:tcPr>
                </a:tc>
                <a:extLst>
                  <a:ext uri="{0D108BD9-81ED-4DB2-BD59-A6C34878D82A}">
                    <a16:rowId xmlns:a16="http://schemas.microsoft.com/office/drawing/2014/main" val="10000"/>
                  </a:ext>
                </a:extLst>
              </a:tr>
              <a:tr h="786384">
                <a:tc>
                  <a:txBody>
                    <a:bodyPr/>
                    <a:lstStyle/>
                    <a:p>
                      <a:pPr>
                        <a:defRPr sz="1200" b="1">
                          <a:solidFill>
                            <a:srgbClr val="153448"/>
                          </a:solidFill>
                          <a:latin typeface="Calibri"/>
                        </a:defRPr>
                      </a:pPr>
                      <a:r>
                        <a:t>1. Visual Proctor (VP)</a:t>
                      </a:r>
                    </a:p>
                  </a:txBody>
                  <a:tcPr>
                    <a:solidFill>
                      <a:srgbClr val="EBF1F6"/>
                    </a:solidFill>
                  </a:tcPr>
                </a:tc>
                <a:tc>
                  <a:txBody>
                    <a:bodyPr/>
                    <a:lstStyle/>
                    <a:p>
                      <a:pPr>
                        <a:defRPr sz="1100" i="1">
                          <a:solidFill>
                            <a:srgbClr val="1F2937"/>
                          </a:solidFill>
                          <a:latin typeface="Calibri"/>
                        </a:defRPr>
                      </a:pPr>
                      <a:r>
                        <a:t>“Looking at the keyboard is usually normal.”</a:t>
                      </a:r>
                    </a:p>
                  </a:txBody>
                  <a:tcPr>
                    <a:solidFill>
                      <a:srgbClr val="EBF1F6"/>
                    </a:solidFill>
                  </a:tcPr>
                </a:tc>
                <a:tc>
                  <a:txBody>
                    <a:bodyPr/>
                    <a:lstStyle/>
                    <a:p>
                      <a:pPr>
                        <a:defRPr sz="1100">
                          <a:solidFill>
                            <a:srgbClr val="526574"/>
                          </a:solidFill>
                          <a:latin typeface="Calibri"/>
                        </a:defRPr>
                      </a:pPr>
                      <a:r>
                        <a:t>• Verdict: CLEAR, SUSPICIOUS, CRITICAL</a:t>
                      </a:r>
                      <a:br/>
                      <a:r>
                        <a:t>• Anomaly log with timestamps</a:t>
                      </a:r>
                      <a:br/>
                      <a:r>
                        <a:t>• Behavioral reasoning</a:t>
                      </a:r>
                    </a:p>
                  </a:txBody>
                  <a:tcPr>
                    <a:solidFill>
                      <a:srgbClr val="EBF1F6"/>
                    </a:solidFill>
                  </a:tcPr>
                </a:tc>
                <a:extLst>
                  <a:ext uri="{0D108BD9-81ED-4DB2-BD59-A6C34878D82A}">
                    <a16:rowId xmlns:a16="http://schemas.microsoft.com/office/drawing/2014/main" val="10001"/>
                  </a:ext>
                </a:extLst>
              </a:tr>
              <a:tr h="786384">
                <a:tc>
                  <a:txBody>
                    <a:bodyPr/>
                    <a:lstStyle/>
                    <a:p>
                      <a:pPr>
                        <a:defRPr sz="1200" b="1">
                          <a:solidFill>
                            <a:srgbClr val="153448"/>
                          </a:solidFill>
                          <a:latin typeface="Calibri"/>
                        </a:defRPr>
                      </a:pPr>
                      <a:r>
                        <a:t>2. Code Reviewer (CR)</a:t>
                      </a:r>
                    </a:p>
                  </a:txBody>
                  <a:tcPr>
                    <a:solidFill>
                      <a:srgbClr val="FFFFFF"/>
                    </a:solidFill>
                  </a:tcPr>
                </a:tc>
                <a:tc>
                  <a:txBody>
                    <a:bodyPr/>
                    <a:lstStyle/>
                    <a:p>
                      <a:pPr>
                        <a:defRPr sz="1100" i="1">
                          <a:solidFill>
                            <a:srgbClr val="1F2937"/>
                          </a:solidFill>
                          <a:latin typeface="Calibri"/>
                        </a:defRPr>
                      </a:pPr>
                      <a:r>
                        <a:t>“Flag any 'Sudden Logic': complex code that appears in under 3 seconds rather than being typed incrementally.”</a:t>
                      </a:r>
                    </a:p>
                  </a:txBody>
                  <a:tcPr>
                    <a:solidFill>
                      <a:srgbClr val="FFFFFF"/>
                    </a:solidFill>
                  </a:tcPr>
                </a:tc>
                <a:tc>
                  <a:txBody>
                    <a:bodyPr/>
                    <a:lstStyle/>
                    <a:p>
                      <a:pPr>
                        <a:defRPr sz="1100">
                          <a:solidFill>
                            <a:srgbClr val="526574"/>
                          </a:solidFill>
                          <a:latin typeface="Calibri"/>
                        </a:defRPr>
                      </a:pPr>
                      <a:r>
                        <a:t>• Technical score (0–100)</a:t>
                      </a:r>
                      <a:br/>
                      <a:r>
                        <a:t>• Screen/submission match</a:t>
                      </a:r>
                      <a:br/>
                      <a:r>
                        <a:t>• Sudden logic timestamps</a:t>
                      </a:r>
                    </a:p>
                  </a:txBody>
                  <a:tcPr>
                    <a:solidFill>
                      <a:srgbClr val="FFFFFF"/>
                    </a:solidFill>
                  </a:tcPr>
                </a:tc>
                <a:extLst>
                  <a:ext uri="{0D108BD9-81ED-4DB2-BD59-A6C34878D82A}">
                    <a16:rowId xmlns:a16="http://schemas.microsoft.com/office/drawing/2014/main" val="10002"/>
                  </a:ext>
                </a:extLst>
              </a:tr>
              <a:tr h="786384">
                <a:tc>
                  <a:txBody>
                    <a:bodyPr/>
                    <a:lstStyle/>
                    <a:p>
                      <a:pPr>
                        <a:defRPr sz="1200" b="1">
                          <a:solidFill>
                            <a:srgbClr val="153448"/>
                          </a:solidFill>
                          <a:latin typeface="Calibri"/>
                        </a:defRPr>
                      </a:pPr>
                      <a:r>
                        <a:t>3. Integrity Auditor (IA)</a:t>
                      </a:r>
                    </a:p>
                  </a:txBody>
                  <a:tcPr>
                    <a:solidFill>
                      <a:srgbClr val="EBF1F6"/>
                    </a:solidFill>
                  </a:tcPr>
                </a:tc>
                <a:tc>
                  <a:txBody>
                    <a:bodyPr/>
                    <a:lstStyle/>
                    <a:p>
                      <a:pPr>
                        <a:defRPr sz="1100" i="1">
                          <a:solidFill>
                            <a:srgbClr val="1F2937"/>
                          </a:solidFill>
                          <a:latin typeface="Calibri"/>
                        </a:defRPr>
                      </a:pPr>
                      <a:r>
                        <a:t>“AUDIT STATUS: [PASS / FAIL / INVESTIGATION]”</a:t>
                      </a:r>
                    </a:p>
                  </a:txBody>
                  <a:tcPr>
                    <a:solidFill>
                      <a:srgbClr val="EBF1F6"/>
                    </a:solidFill>
                  </a:tcPr>
                </a:tc>
                <a:tc>
                  <a:txBody>
                    <a:bodyPr/>
                    <a:lstStyle/>
                    <a:p>
                      <a:pPr>
                        <a:defRPr sz="1100">
                          <a:solidFill>
                            <a:srgbClr val="526574"/>
                          </a:solidFill>
                          <a:latin typeface="Calibri"/>
                        </a:defRPr>
                      </a:pPr>
                      <a:r>
                        <a:t>• Audit status</a:t>
                      </a:r>
                      <a:br/>
                      <a:r>
                        <a:t>• Confidence score</a:t>
                      </a:r>
                      <a:br/>
                      <a:r>
                        <a:t>• Cross-modal discrepancies</a:t>
                      </a:r>
                    </a:p>
                  </a:txBody>
                  <a:tcPr>
                    <a:solidFill>
                      <a:srgbClr val="EBF1F6"/>
                    </a:solidFill>
                  </a:tcPr>
                </a:tc>
                <a:extLst>
                  <a:ext uri="{0D108BD9-81ED-4DB2-BD59-A6C34878D82A}">
                    <a16:rowId xmlns:a16="http://schemas.microsoft.com/office/drawing/2014/main" val="10003"/>
                  </a:ext>
                </a:extLst>
              </a:tr>
              <a:tr h="786384">
                <a:tc>
                  <a:txBody>
                    <a:bodyPr/>
                    <a:lstStyle/>
                    <a:p>
                      <a:pPr>
                        <a:defRPr sz="1200" b="1">
                          <a:solidFill>
                            <a:srgbClr val="153448"/>
                          </a:solidFill>
                          <a:latin typeface="Calibri"/>
                        </a:defRPr>
                      </a:pPr>
                      <a:r>
                        <a:t>4. Final Grader (FG)</a:t>
                      </a:r>
                    </a:p>
                  </a:txBody>
                  <a:tcPr>
                    <a:solidFill>
                      <a:srgbClr val="FFFFFF"/>
                    </a:solidFill>
                  </a:tcPr>
                </a:tc>
                <a:tc>
                  <a:txBody>
                    <a:bodyPr/>
                    <a:lstStyle/>
                    <a:p>
                      <a:pPr>
                        <a:defRPr sz="1100" i="1">
                          <a:solidFill>
                            <a:srgbClr val="1F2937"/>
                          </a:solidFill>
                          <a:latin typeface="Calibri"/>
                        </a:defRPr>
                      </a:pPr>
                      <a:r>
                        <a:t>“STATUS: [Certified / Flagged / Failed]”</a:t>
                      </a:r>
                    </a:p>
                  </a:txBody>
                  <a:tcPr>
                    <a:solidFill>
                      <a:srgbClr val="FFFFFF"/>
                    </a:solidFill>
                  </a:tcPr>
                </a:tc>
                <a:tc>
                  <a:txBody>
                    <a:bodyPr/>
                    <a:lstStyle/>
                    <a:p>
                      <a:pPr>
                        <a:defRPr sz="1100">
                          <a:solidFill>
                            <a:srgbClr val="526574"/>
                          </a:solidFill>
                          <a:latin typeface="Calibri"/>
                        </a:defRPr>
                      </a:pPr>
                      <a:r>
                        <a:t>• Final grade (grade cap enforced)</a:t>
                      </a:r>
                      <a:br/>
                      <a:r>
                        <a:t>• Pre-audit technical score</a:t>
                      </a:r>
                      <a:br/>
                      <a:r>
                        <a:t>• Unified evidence timeline</a:t>
                      </a:r>
                    </a:p>
                  </a:txBody>
                  <a:tcPr>
                    <a:solidFill>
                      <a:srgbClr val="FFFFFF"/>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9FB"/>
        </a:solidFill>
        <a:effectLst/>
      </p:bgPr>
    </p:bg>
    <p:spTree>
      <p:nvGrpSpPr>
        <p:cNvPr id="1" name=""/>
        <p:cNvGrpSpPr/>
        <p:nvPr/>
      </p:nvGrpSpPr>
      <p:grpSpPr>
        <a:xfrm>
          <a:off x="0" y="0"/>
          <a:ext cx="0" cy="0"/>
          <a:chOff x="0" y="0"/>
          <a:chExt cx="0" cy="0"/>
        </a:xfrm>
      </p:grpSpPr>
      <p:sp>
        <p:nvSpPr>
          <p:cNvPr id="2" name="TextBox 1"/>
          <p:cNvSpPr txBox="1"/>
          <p:nvPr/>
        </p:nvSpPr>
        <p:spPr>
          <a:xfrm>
            <a:off x="603504" y="411480"/>
            <a:ext cx="10972800" cy="777240"/>
          </a:xfrm>
          <a:prstGeom prst="rect">
            <a:avLst/>
          </a:prstGeom>
          <a:noFill/>
        </p:spPr>
        <p:txBody>
          <a:bodyPr wrap="square" lIns="0" tIns="0" rIns="0" bIns="0">
            <a:spAutoFit/>
          </a:bodyPr>
          <a:lstStyle/>
          <a:p>
            <a:pPr>
              <a:defRPr sz="2800" b="1">
                <a:solidFill>
                  <a:srgbClr val="153448"/>
                </a:solidFill>
                <a:latin typeface="Calibri"/>
              </a:defRPr>
            </a:pPr>
            <a:r>
              <a:t>Cross-Modal Evidence Triangulation</a:t>
            </a:r>
          </a:p>
        </p:txBody>
      </p:sp>
      <p:sp>
        <p:nvSpPr>
          <p:cNvPr id="3" name="TextBox 2"/>
          <p:cNvSpPr txBox="1"/>
          <p:nvPr/>
        </p:nvSpPr>
        <p:spPr>
          <a:xfrm>
            <a:off x="603504" y="1170432"/>
            <a:ext cx="10972800" cy="502920"/>
          </a:xfrm>
          <a:prstGeom prst="rect">
            <a:avLst/>
          </a:prstGeom>
          <a:noFill/>
        </p:spPr>
        <p:txBody>
          <a:bodyPr wrap="square" lIns="0" tIns="0" rIns="0" bIns="0">
            <a:spAutoFit/>
          </a:bodyPr>
          <a:lstStyle/>
          <a:p>
            <a:pPr>
              <a:defRPr sz="1300">
                <a:solidFill>
                  <a:srgbClr val="526574"/>
                </a:solidFill>
                <a:latin typeface="Calibri"/>
              </a:defRPr>
            </a:pPr>
            <a:r>
              <a:t>How the Integrity Auditor cross-references behavior, development, and submission.</a:t>
            </a:r>
          </a:p>
        </p:txBody>
      </p:sp>
      <p:sp>
        <p:nvSpPr>
          <p:cNvPr id="4" name="TextBox 3"/>
          <p:cNvSpPr txBox="1"/>
          <p:nvPr/>
        </p:nvSpPr>
        <p:spPr>
          <a:xfrm>
            <a:off x="603504" y="6355080"/>
            <a:ext cx="9601200" cy="320040"/>
          </a:xfrm>
          <a:prstGeom prst="rect">
            <a:avLst/>
          </a:prstGeom>
          <a:noFill/>
        </p:spPr>
        <p:txBody>
          <a:bodyPr wrap="square" lIns="0" tIns="0" rIns="0" bIns="0">
            <a:spAutoFit/>
          </a:bodyPr>
          <a:lstStyle/>
          <a:p>
            <a:pPr>
              <a:defRPr sz="1000">
                <a:solidFill>
                  <a:srgbClr val="526574"/>
                </a:solidFill>
                <a:latin typeface="Calibri"/>
              </a:defRPr>
            </a:pPr>
            <a:r>
              <a:t>Exam-Flow  |  IEEE TOK-CSES 2026</a:t>
            </a:r>
          </a:p>
        </p:txBody>
      </p:sp>
      <p:sp>
        <p:nvSpPr>
          <p:cNvPr id="5" name="TextBox 4"/>
          <p:cNvSpPr txBox="1"/>
          <p:nvPr/>
        </p:nvSpPr>
        <p:spPr>
          <a:xfrm>
            <a:off x="10789920" y="6355080"/>
            <a:ext cx="777240" cy="320040"/>
          </a:xfrm>
          <a:prstGeom prst="rect">
            <a:avLst/>
          </a:prstGeom>
          <a:noFill/>
        </p:spPr>
        <p:txBody>
          <a:bodyPr wrap="none" lIns="0" tIns="0" rIns="0" bIns="0">
            <a:spAutoFit/>
          </a:bodyPr>
          <a:lstStyle/>
          <a:p>
            <a:pPr algn="r">
              <a:defRPr sz="1000">
                <a:solidFill>
                  <a:srgbClr val="526574"/>
                </a:solidFill>
                <a:latin typeface="Calibri"/>
              </a:defRPr>
            </a:pPr>
            <a:r>
              <a:t>08</a:t>
            </a:r>
          </a:p>
        </p:txBody>
      </p:sp>
      <p:sp>
        <p:nvSpPr>
          <p:cNvPr id="14" name="TextBox 13"/>
          <p:cNvSpPr txBox="1"/>
          <p:nvPr/>
        </p:nvSpPr>
        <p:spPr>
          <a:xfrm>
            <a:off x="6126480" y="1691640"/>
            <a:ext cx="5303520" cy="4297680"/>
          </a:xfrm>
          <a:prstGeom prst="rect">
            <a:avLst/>
          </a:prstGeom>
          <a:noFill/>
        </p:spPr>
        <p:txBody>
          <a:bodyPr wrap="square" lIns="228600" tIns="228600" rIns="228600" bIns="228600">
            <a:spAutoFit/>
          </a:bodyPr>
          <a:lstStyle/>
          <a:p>
            <a:pPr algn="ctr">
              <a:spcAft>
                <a:spcPts val="1200"/>
              </a:spcAft>
              <a:defRPr sz="1600" b="1">
                <a:solidFill>
                  <a:srgbClr val="153448"/>
                </a:solidFill>
                <a:latin typeface="Calibri"/>
              </a:defRPr>
            </a:pPr>
            <a:r>
              <a:t>How Triangulation Works (3 Steps)</a:t>
            </a:r>
          </a:p>
          <a:p>
            <a:pPr>
              <a:spcAft>
                <a:spcPts val="200"/>
              </a:spcAft>
              <a:defRPr sz="1250" b="1">
                <a:solidFill>
                  <a:srgbClr val="087F83"/>
                </a:solidFill>
                <a:latin typeface="Calibri"/>
              </a:defRPr>
            </a:pPr>
            <a:r>
              <a:t>1. Visual Proctor (Behavior)</a:t>
            </a:r>
          </a:p>
          <a:p>
            <a:pPr>
              <a:spcAft>
                <a:spcPts val="1000"/>
              </a:spcAft>
              <a:defRPr sz="1100">
                <a:solidFill>
                  <a:srgbClr val="526574"/>
                </a:solidFill>
                <a:latin typeface="Calibri"/>
              </a:defRPr>
            </a:pPr>
            <a:r>
              <a:t>Watches the student's webcam video feed. Tracks gaze direction, head pose, and presence. Normal keyboard glances are classified as benign.</a:t>
            </a:r>
          </a:p>
          <a:p>
            <a:pPr>
              <a:spcAft>
                <a:spcPts val="200"/>
              </a:spcAft>
              <a:defRPr sz="1250" b="1">
                <a:solidFill>
                  <a:srgbClr val="087F83"/>
                </a:solidFill>
                <a:latin typeface="Calibri"/>
              </a:defRPr>
            </a:pPr>
            <a:r>
              <a:t>2. Code Reviewer (Development)</a:t>
            </a:r>
          </a:p>
          <a:p>
            <a:pPr>
              <a:spcAft>
                <a:spcPts val="1000"/>
              </a:spcAft>
              <a:defRPr sz="1100">
                <a:solidFill>
                  <a:srgbClr val="526574"/>
                </a:solidFill>
                <a:latin typeface="Calibri"/>
              </a:defRPr>
            </a:pPr>
            <a:r>
              <a:t>Watches the on-screen code development in real-time. Detects instantaneous block insertions (&lt; 3 seconds) and checks logic against reference benchmarks.</a:t>
            </a:r>
          </a:p>
          <a:p>
            <a:pPr>
              <a:spcAft>
                <a:spcPts val="200"/>
              </a:spcAft>
              <a:defRPr sz="1250" b="1">
                <a:solidFill>
                  <a:srgbClr val="087F83"/>
                </a:solidFill>
                <a:latin typeface="Calibri"/>
              </a:defRPr>
            </a:pPr>
            <a:r>
              <a:t>3. Integrity Auditor (Synthesis)</a:t>
            </a:r>
          </a:p>
          <a:p>
            <a:pPr>
              <a:spcAft>
                <a:spcPts val="1000"/>
              </a:spcAft>
              <a:defRPr sz="1100">
                <a:solidFill>
                  <a:srgbClr val="526574"/>
                </a:solidFill>
                <a:latin typeface="Calibri"/>
              </a:defRPr>
            </a:pPr>
            <a:r>
              <a:t>Correlates the two timelines. If a 15-line algorithm appears in 0.8s while the student looks off-screen, it triggers a cross-modal flag for instructor review.</a:t>
            </a:r>
          </a:p>
        </p:txBody>
      </p:sp>
      <p:pic>
        <p:nvPicPr>
          <p:cNvPr id="15" name="Picture 14" descr="triangulation_multi_agent_model.png"/>
          <p:cNvPicPr>
            <a:picLocks noChangeAspect="1"/>
          </p:cNvPicPr>
          <p:nvPr/>
        </p:nvPicPr>
        <p:blipFill>
          <a:blip r:embed="rId3"/>
          <a:stretch>
            <a:fillRect/>
          </a:stretch>
        </p:blipFill>
        <p:spPr>
          <a:xfrm>
            <a:off x="762000" y="1394460"/>
            <a:ext cx="4193458" cy="4193458"/>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9FB"/>
        </a:solidFill>
        <a:effectLst/>
      </p:bgPr>
    </p:bg>
    <p:spTree>
      <p:nvGrpSpPr>
        <p:cNvPr id="1" name=""/>
        <p:cNvGrpSpPr/>
        <p:nvPr/>
      </p:nvGrpSpPr>
      <p:grpSpPr>
        <a:xfrm>
          <a:off x="0" y="0"/>
          <a:ext cx="0" cy="0"/>
          <a:chOff x="0" y="0"/>
          <a:chExt cx="0" cy="0"/>
        </a:xfrm>
      </p:grpSpPr>
      <p:sp>
        <p:nvSpPr>
          <p:cNvPr id="2" name="TextBox 1"/>
          <p:cNvSpPr txBox="1"/>
          <p:nvPr/>
        </p:nvSpPr>
        <p:spPr>
          <a:xfrm>
            <a:off x="603504" y="411480"/>
            <a:ext cx="10972800" cy="777240"/>
          </a:xfrm>
          <a:prstGeom prst="rect">
            <a:avLst/>
          </a:prstGeom>
          <a:noFill/>
        </p:spPr>
        <p:txBody>
          <a:bodyPr wrap="square" lIns="0" tIns="0" rIns="0" bIns="0">
            <a:spAutoFit/>
          </a:bodyPr>
          <a:lstStyle/>
          <a:p>
            <a:pPr>
              <a:defRPr sz="2800" b="1">
                <a:solidFill>
                  <a:srgbClr val="153448"/>
                </a:solidFill>
                <a:latin typeface="Calibri"/>
              </a:defRPr>
            </a:pPr>
            <a:r>
              <a:t>System Backend: Memory &amp; Context</a:t>
            </a:r>
          </a:p>
        </p:txBody>
      </p:sp>
      <p:sp>
        <p:nvSpPr>
          <p:cNvPr id="3" name="TextBox 2"/>
          <p:cNvSpPr txBox="1"/>
          <p:nvPr/>
        </p:nvSpPr>
        <p:spPr>
          <a:xfrm>
            <a:off x="603504" y="1170432"/>
            <a:ext cx="10972800" cy="502920"/>
          </a:xfrm>
          <a:prstGeom prst="rect">
            <a:avLst/>
          </a:prstGeom>
          <a:noFill/>
        </p:spPr>
        <p:txBody>
          <a:bodyPr wrap="square" lIns="0" tIns="0" rIns="0" bIns="0">
            <a:spAutoFit/>
          </a:bodyPr>
          <a:lstStyle/>
          <a:p>
            <a:pPr>
              <a:defRPr sz="1300">
                <a:solidFill>
                  <a:srgbClr val="526574"/>
                </a:solidFill>
                <a:latin typeface="Calibri"/>
              </a:defRPr>
            </a:pPr>
            <a:r>
              <a:rPr dirty="0"/>
              <a:t>How Exam-Flow prevents AI hallucination and saves time.</a:t>
            </a:r>
          </a:p>
        </p:txBody>
      </p:sp>
      <p:sp>
        <p:nvSpPr>
          <p:cNvPr id="4" name="TextBox 3"/>
          <p:cNvSpPr txBox="1"/>
          <p:nvPr/>
        </p:nvSpPr>
        <p:spPr>
          <a:xfrm>
            <a:off x="603504" y="6355080"/>
            <a:ext cx="9601200" cy="320040"/>
          </a:xfrm>
          <a:prstGeom prst="rect">
            <a:avLst/>
          </a:prstGeom>
          <a:noFill/>
        </p:spPr>
        <p:txBody>
          <a:bodyPr wrap="square" lIns="0" tIns="0" rIns="0" bIns="0">
            <a:spAutoFit/>
          </a:bodyPr>
          <a:lstStyle/>
          <a:p>
            <a:pPr>
              <a:defRPr sz="1000">
                <a:solidFill>
                  <a:srgbClr val="526574"/>
                </a:solidFill>
                <a:latin typeface="Calibri"/>
              </a:defRPr>
            </a:pPr>
            <a:r>
              <a:t>Exam-Flow  |  IEEE TOK-CSES 2026</a:t>
            </a:r>
          </a:p>
        </p:txBody>
      </p:sp>
      <p:sp>
        <p:nvSpPr>
          <p:cNvPr id="5" name="TextBox 4"/>
          <p:cNvSpPr txBox="1"/>
          <p:nvPr/>
        </p:nvSpPr>
        <p:spPr>
          <a:xfrm>
            <a:off x="10789920" y="6355080"/>
            <a:ext cx="777240" cy="320040"/>
          </a:xfrm>
          <a:prstGeom prst="rect">
            <a:avLst/>
          </a:prstGeom>
          <a:noFill/>
        </p:spPr>
        <p:txBody>
          <a:bodyPr wrap="none" lIns="0" tIns="0" rIns="0" bIns="0">
            <a:spAutoFit/>
          </a:bodyPr>
          <a:lstStyle/>
          <a:p>
            <a:pPr algn="r">
              <a:defRPr sz="1000">
                <a:solidFill>
                  <a:srgbClr val="526574"/>
                </a:solidFill>
                <a:latin typeface="Calibri"/>
              </a:defRPr>
            </a:pPr>
            <a:r>
              <a:t>09</a:t>
            </a:r>
          </a:p>
        </p:txBody>
      </p:sp>
      <p:sp>
        <p:nvSpPr>
          <p:cNvPr id="6" name="TextBox 5"/>
          <p:cNvSpPr txBox="1"/>
          <p:nvPr/>
        </p:nvSpPr>
        <p:spPr>
          <a:xfrm>
            <a:off x="731520" y="1783080"/>
            <a:ext cx="5166360" cy="2693045"/>
          </a:xfrm>
          <a:prstGeom prst="rect">
            <a:avLst/>
          </a:prstGeom>
        </p:spPr>
        <p:style>
          <a:lnRef idx="1">
            <a:schemeClr val="accent5"/>
          </a:lnRef>
          <a:fillRef idx="2">
            <a:schemeClr val="accent5"/>
          </a:fillRef>
          <a:effectRef idx="1">
            <a:schemeClr val="accent5"/>
          </a:effectRef>
          <a:fontRef idx="minor">
            <a:schemeClr val="dk1"/>
          </a:fontRef>
        </p:style>
        <p:txBody>
          <a:bodyPr wrap="square" lIns="228600" tIns="182880" rIns="228600">
            <a:spAutoFit/>
          </a:bodyPr>
          <a:lstStyle/>
          <a:p>
            <a:pPr algn="ctr">
              <a:defRPr sz="1600" b="1">
                <a:solidFill>
                  <a:srgbClr val="153448"/>
                </a:solidFill>
                <a:latin typeface="Calibri"/>
              </a:defRPr>
            </a:pPr>
            <a:r>
              <a:rPr dirty="0">
                <a:ln w="0"/>
                <a:solidFill>
                  <a:schemeClr val="tx1"/>
                </a:solidFill>
                <a:effectLst>
                  <a:outerShdw blurRad="38100" dist="19050" dir="2700000" algn="tl" rotWithShape="0">
                    <a:schemeClr val="dk1">
                      <a:alpha val="40000"/>
                    </a:schemeClr>
                  </a:outerShdw>
                </a:effectLst>
              </a:rPr>
              <a:t>📚  </a:t>
            </a:r>
            <a:r>
              <a:rPr dirty="0" err="1">
                <a:ln w="0"/>
                <a:solidFill>
                  <a:schemeClr val="tx1"/>
                </a:solidFill>
                <a:effectLst>
                  <a:outerShdw blurRad="38100" dist="19050" dir="2700000" algn="tl" rotWithShape="0">
                    <a:schemeClr val="dk1">
                      <a:alpha val="40000"/>
                    </a:schemeClr>
                  </a:outerShdw>
                </a:effectLst>
              </a:rPr>
              <a:t>ChromaDB</a:t>
            </a:r>
            <a:r>
              <a:rPr dirty="0">
                <a:ln w="0"/>
                <a:solidFill>
                  <a:schemeClr val="tx1"/>
                </a:solidFill>
                <a:effectLst>
                  <a:outerShdw blurRad="38100" dist="19050" dir="2700000" algn="tl" rotWithShape="0">
                    <a:schemeClr val="dk1">
                      <a:alpha val="40000"/>
                    </a:schemeClr>
                  </a:outerShdw>
                </a:effectLst>
              </a:rPr>
              <a:t> (The AI's Reference Library)</a:t>
            </a:r>
          </a:p>
          <a:p>
            <a:pPr>
              <a:defRPr sz="1200" b="1">
                <a:solidFill>
                  <a:srgbClr val="087F83"/>
                </a:solidFill>
                <a:latin typeface="Calibri"/>
              </a:defRPr>
            </a:pPr>
            <a:r>
              <a:rPr sz="1600" dirty="0">
                <a:ln w="0"/>
                <a:solidFill>
                  <a:schemeClr val="tx1"/>
                </a:solidFill>
                <a:effectLst>
                  <a:outerShdw blurRad="38100" dist="19050" dir="2700000" algn="tl" rotWithShape="0">
                    <a:schemeClr val="dk1">
                      <a:alpha val="40000"/>
                    </a:schemeClr>
                  </a:outerShdw>
                </a:effectLst>
              </a:rPr>
              <a:t>What is it?</a:t>
            </a:r>
          </a:p>
          <a:p>
            <a:pPr>
              <a:defRPr sz="1050">
                <a:solidFill>
                  <a:srgbClr val="526574"/>
                </a:solidFill>
                <a:latin typeface="Calibri"/>
              </a:defRPr>
            </a:pPr>
            <a:r>
              <a:rPr sz="1200" dirty="0">
                <a:ln w="0"/>
                <a:solidFill>
                  <a:schemeClr val="tx1"/>
                </a:solidFill>
                <a:effectLst>
                  <a:outerShdw blurRad="38100" dist="19050" dir="2700000" algn="tl" rotWithShape="0">
                    <a:schemeClr val="dk1">
                      <a:alpha val="40000"/>
                    </a:schemeClr>
                  </a:outerShdw>
                </a:effectLst>
              </a:rPr>
              <a:t>A Vector Database used for RAG (Retrieval-Augmented Generation). A smart search engine for the AI.</a:t>
            </a:r>
          </a:p>
          <a:p>
            <a:pPr>
              <a:defRPr sz="1200" b="1">
                <a:solidFill>
                  <a:srgbClr val="087F83"/>
                </a:solidFill>
                <a:latin typeface="Calibri"/>
              </a:defRPr>
            </a:pPr>
            <a:r>
              <a:rPr sz="1600" dirty="0">
                <a:ln w="0"/>
                <a:solidFill>
                  <a:schemeClr val="tx1"/>
                </a:solidFill>
                <a:effectLst>
                  <a:outerShdw blurRad="38100" dist="19050" dir="2700000" algn="tl" rotWithShape="0">
                    <a:schemeClr val="dk1">
                      <a:alpha val="40000"/>
                    </a:schemeClr>
                  </a:outerShdw>
                </a:effectLst>
              </a:rPr>
              <a:t>Why do we need it?</a:t>
            </a:r>
          </a:p>
          <a:p>
            <a:pPr>
              <a:defRPr sz="1050">
                <a:solidFill>
                  <a:srgbClr val="526574"/>
                </a:solidFill>
                <a:latin typeface="Calibri"/>
              </a:defRPr>
            </a:pPr>
            <a:r>
              <a:rPr sz="1200" dirty="0">
                <a:ln w="0"/>
                <a:solidFill>
                  <a:schemeClr val="tx1"/>
                </a:solidFill>
                <a:effectLst>
                  <a:outerShdw blurRad="38100" dist="19050" dir="2700000" algn="tl" rotWithShape="0">
                    <a:schemeClr val="dk1">
                      <a:alpha val="40000"/>
                    </a:schemeClr>
                  </a:outerShdw>
                </a:effectLst>
              </a:rPr>
              <a:t>Without it, the AI guesses. RAG forces the AI to look up the instructor’s actual rubric and ideal solutions before grading.</a:t>
            </a:r>
          </a:p>
          <a:p>
            <a:pPr>
              <a:defRPr sz="1200" b="1">
                <a:solidFill>
                  <a:srgbClr val="087F83"/>
                </a:solidFill>
                <a:latin typeface="Calibri"/>
              </a:defRPr>
            </a:pPr>
            <a:r>
              <a:rPr sz="1600" dirty="0">
                <a:ln w="0"/>
                <a:solidFill>
                  <a:schemeClr val="tx1"/>
                </a:solidFill>
                <a:effectLst>
                  <a:outerShdw blurRad="38100" dist="19050" dir="2700000" algn="tl" rotWithShape="0">
                    <a:schemeClr val="dk1">
                      <a:alpha val="40000"/>
                    </a:schemeClr>
                  </a:outerShdw>
                </a:effectLst>
              </a:rPr>
              <a:t>How we use it:</a:t>
            </a:r>
          </a:p>
          <a:p>
            <a:pPr>
              <a:defRPr sz="1050">
                <a:solidFill>
                  <a:srgbClr val="526574"/>
                </a:solidFill>
                <a:latin typeface="Calibri"/>
              </a:defRPr>
            </a:pPr>
            <a:r>
              <a:rPr sz="1200" dirty="0">
                <a:ln w="0"/>
                <a:solidFill>
                  <a:schemeClr val="tx1"/>
                </a:solidFill>
                <a:effectLst>
                  <a:outerShdw blurRad="38100" dist="19050" dir="2700000" algn="tl" rotWithShape="0">
                    <a:schemeClr val="dk1">
                      <a:alpha val="40000"/>
                    </a:schemeClr>
                  </a:outerShdw>
                </a:effectLst>
              </a:rPr>
              <a:t>• Upload "Ideal Solutions" &amp; "Marking Rubric" into </a:t>
            </a:r>
            <a:r>
              <a:rPr sz="1200" dirty="0" err="1">
                <a:ln w="0"/>
                <a:solidFill>
                  <a:schemeClr val="tx1"/>
                </a:solidFill>
                <a:effectLst>
                  <a:outerShdw blurRad="38100" dist="19050" dir="2700000" algn="tl" rotWithShape="0">
                    <a:schemeClr val="dk1">
                      <a:alpha val="40000"/>
                    </a:schemeClr>
                  </a:outerShdw>
                </a:effectLst>
              </a:rPr>
              <a:t>ChromaDB</a:t>
            </a:r>
            <a:r>
              <a:rPr sz="1200" dirty="0">
                <a:ln w="0"/>
                <a:solidFill>
                  <a:schemeClr val="tx1"/>
                </a:solidFill>
                <a:effectLst>
                  <a:outerShdw blurRad="38100" dist="19050" dir="2700000" algn="tl" rotWithShape="0">
                    <a:schemeClr val="dk1">
                      <a:alpha val="40000"/>
                    </a:schemeClr>
                  </a:outerShdw>
                </a:effectLst>
              </a:rPr>
              <a:t>.</a:t>
            </a:r>
          </a:p>
          <a:p>
            <a:pPr>
              <a:defRPr sz="1050">
                <a:solidFill>
                  <a:srgbClr val="526574"/>
                </a:solidFill>
                <a:latin typeface="Calibri"/>
              </a:defRPr>
            </a:pPr>
            <a:r>
              <a:rPr sz="1200" dirty="0">
                <a:ln w="0"/>
                <a:solidFill>
                  <a:schemeClr val="tx1"/>
                </a:solidFill>
                <a:effectLst>
                  <a:outerShdw blurRad="38100" dist="19050" dir="2700000" algn="tl" rotWithShape="0">
                    <a:schemeClr val="dk1">
                      <a:alpha val="40000"/>
                    </a:schemeClr>
                  </a:outerShdw>
                </a:effectLst>
              </a:rPr>
              <a:t>• Convert text to math vectors using Google's gemini-embedding-001.</a:t>
            </a:r>
          </a:p>
          <a:p>
            <a:pPr>
              <a:defRPr sz="1050">
                <a:solidFill>
                  <a:srgbClr val="526574"/>
                </a:solidFill>
                <a:latin typeface="Calibri"/>
              </a:defRPr>
            </a:pPr>
            <a:r>
              <a:rPr sz="1200" dirty="0">
                <a:ln w="0"/>
                <a:solidFill>
                  <a:schemeClr val="tx1"/>
                </a:solidFill>
                <a:effectLst>
                  <a:outerShdw blurRad="38100" dist="19050" dir="2700000" algn="tl" rotWithShape="0">
                    <a:schemeClr val="dk1">
                      <a:alpha val="40000"/>
                    </a:schemeClr>
                  </a:outerShdw>
                </a:effectLst>
              </a:rPr>
              <a:t>• Code Reviewer queries: "Find closest reference solution" to ground the AI in reality.</a:t>
            </a:r>
          </a:p>
        </p:txBody>
      </p:sp>
      <p:sp>
        <p:nvSpPr>
          <p:cNvPr id="7" name="TextBox 6"/>
          <p:cNvSpPr txBox="1"/>
          <p:nvPr/>
        </p:nvSpPr>
        <p:spPr>
          <a:xfrm>
            <a:off x="6291072" y="1783080"/>
            <a:ext cx="5166360" cy="2939266"/>
          </a:xfrm>
          <a:prstGeom prst="rect">
            <a:avLst/>
          </a:prstGeom>
        </p:spPr>
        <p:style>
          <a:lnRef idx="1">
            <a:schemeClr val="accent4"/>
          </a:lnRef>
          <a:fillRef idx="2">
            <a:schemeClr val="accent4"/>
          </a:fillRef>
          <a:effectRef idx="1">
            <a:schemeClr val="accent4"/>
          </a:effectRef>
          <a:fontRef idx="minor">
            <a:schemeClr val="dk1"/>
          </a:fontRef>
        </p:style>
        <p:txBody>
          <a:bodyPr wrap="square" lIns="228600" tIns="182880" rIns="228600">
            <a:spAutoFit/>
          </a:bodyPr>
          <a:lstStyle/>
          <a:p>
            <a:pPr algn="ctr">
              <a:defRPr sz="1600" b="1">
                <a:solidFill>
                  <a:srgbClr val="153448"/>
                </a:solidFill>
                <a:latin typeface="Calibri"/>
              </a:defRPr>
            </a:pPr>
            <a:r>
              <a:rPr dirty="0"/>
              <a:t>⚡  Smart Caching Layer (Short-Term Memory)</a:t>
            </a:r>
          </a:p>
          <a:p>
            <a:pPr>
              <a:defRPr sz="1200" b="1">
                <a:solidFill>
                  <a:srgbClr val="087F83"/>
                </a:solidFill>
                <a:latin typeface="Calibri"/>
              </a:defRPr>
            </a:pPr>
            <a:r>
              <a:rPr sz="1600" dirty="0"/>
              <a:t>What is it?</a:t>
            </a:r>
          </a:p>
          <a:p>
            <a:pPr>
              <a:defRPr sz="1050">
                <a:solidFill>
                  <a:srgbClr val="526574"/>
                </a:solidFill>
                <a:latin typeface="Calibri"/>
              </a:defRPr>
            </a:pPr>
            <a:r>
              <a:rPr sz="1200" dirty="0"/>
              <a:t>A memory system that saves final results so we don't have to ask the AI again.</a:t>
            </a:r>
          </a:p>
          <a:p>
            <a:pPr>
              <a:defRPr sz="1200" b="1">
                <a:solidFill>
                  <a:srgbClr val="087F83"/>
                </a:solidFill>
                <a:latin typeface="Calibri"/>
              </a:defRPr>
            </a:pPr>
            <a:r>
              <a:rPr sz="1600" dirty="0"/>
              <a:t>Why do we need it?</a:t>
            </a:r>
          </a:p>
          <a:p>
            <a:pPr>
              <a:defRPr sz="1050">
                <a:solidFill>
                  <a:srgbClr val="526574"/>
                </a:solidFill>
                <a:latin typeface="Calibri"/>
              </a:defRPr>
            </a:pPr>
            <a:r>
              <a:rPr sz="1200" dirty="0"/>
              <a:t>LLMs are slow and cost money. A fresh multi-agent analysis takes ~60 seconds. A cache hit takes &lt; 1 second.</a:t>
            </a:r>
          </a:p>
          <a:p>
            <a:pPr>
              <a:defRPr sz="1200" b="1">
                <a:solidFill>
                  <a:srgbClr val="087F83"/>
                </a:solidFill>
                <a:latin typeface="Calibri"/>
              </a:defRPr>
            </a:pPr>
            <a:r>
              <a:rPr sz="1600" dirty="0"/>
              <a:t>Types of Caching (Context):</a:t>
            </a:r>
          </a:p>
          <a:p>
            <a:pPr>
              <a:defRPr sz="1050">
                <a:solidFill>
                  <a:srgbClr val="526574"/>
                </a:solidFill>
                <a:latin typeface="Calibri"/>
              </a:defRPr>
            </a:pPr>
            <a:r>
              <a:rPr sz="1200" dirty="0"/>
              <a:t>Most enterprise applications use external distributed tools like Redis or Memcached.</a:t>
            </a:r>
          </a:p>
          <a:p>
            <a:pPr>
              <a:defRPr sz="1200" b="1">
                <a:solidFill>
                  <a:srgbClr val="087F83"/>
                </a:solidFill>
                <a:latin typeface="Calibri"/>
              </a:defRPr>
            </a:pPr>
            <a:r>
              <a:rPr sz="1600" dirty="0"/>
              <a:t>How we used it:</a:t>
            </a:r>
          </a:p>
          <a:p>
            <a:pPr>
              <a:defRPr sz="1050">
                <a:solidFill>
                  <a:srgbClr val="526574"/>
                </a:solidFill>
                <a:latin typeface="Calibri"/>
              </a:defRPr>
            </a:pPr>
            <a:r>
              <a:rPr sz="1200" dirty="0"/>
              <a:t>Built a lightweight internal Python cache (stored in RAG manager) saving final reports under unique Case IDs for instant reloading without API calls.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9FB"/>
        </a:solidFill>
        <a:effectLst/>
      </p:bgPr>
    </p:bg>
    <p:spTree>
      <p:nvGrpSpPr>
        <p:cNvPr id="1" name=""/>
        <p:cNvGrpSpPr/>
        <p:nvPr/>
      </p:nvGrpSpPr>
      <p:grpSpPr>
        <a:xfrm>
          <a:off x="0" y="0"/>
          <a:ext cx="0" cy="0"/>
          <a:chOff x="0" y="0"/>
          <a:chExt cx="0" cy="0"/>
        </a:xfrm>
      </p:grpSpPr>
      <p:sp>
        <p:nvSpPr>
          <p:cNvPr id="2" name="TextBox 1"/>
          <p:cNvSpPr txBox="1"/>
          <p:nvPr/>
        </p:nvSpPr>
        <p:spPr>
          <a:xfrm>
            <a:off x="603504" y="411480"/>
            <a:ext cx="10972800" cy="777240"/>
          </a:xfrm>
          <a:prstGeom prst="rect">
            <a:avLst/>
          </a:prstGeom>
          <a:noFill/>
        </p:spPr>
        <p:txBody>
          <a:bodyPr wrap="square" lIns="0" tIns="0" rIns="0" bIns="0">
            <a:spAutoFit/>
          </a:bodyPr>
          <a:lstStyle/>
          <a:p>
            <a:pPr>
              <a:defRPr sz="2800" b="1">
                <a:solidFill>
                  <a:srgbClr val="153448"/>
                </a:solidFill>
                <a:latin typeface="Calibri"/>
              </a:defRPr>
            </a:pPr>
            <a:r>
              <a:t>The Testbed: Four Proof-of-Concept Scenarios</a:t>
            </a:r>
          </a:p>
        </p:txBody>
      </p:sp>
      <p:sp>
        <p:nvSpPr>
          <p:cNvPr id="3" name="TextBox 2"/>
          <p:cNvSpPr txBox="1"/>
          <p:nvPr/>
        </p:nvSpPr>
        <p:spPr>
          <a:xfrm>
            <a:off x="603504" y="1170432"/>
            <a:ext cx="10972800" cy="502920"/>
          </a:xfrm>
          <a:prstGeom prst="rect">
            <a:avLst/>
          </a:prstGeom>
          <a:noFill/>
        </p:spPr>
        <p:txBody>
          <a:bodyPr wrap="square" lIns="0" tIns="0" rIns="0" bIns="0">
            <a:spAutoFit/>
          </a:bodyPr>
          <a:lstStyle/>
          <a:p>
            <a:pPr>
              <a:defRPr sz="1300">
                <a:solidFill>
                  <a:srgbClr val="526574"/>
                </a:solidFill>
                <a:latin typeface="Calibri"/>
              </a:defRPr>
            </a:pPr>
            <a:r>
              <a:t>Four distinct cases designed to test normal behavior, instant code injection, cross-modal mismatches, and AI hallucinations.</a:t>
            </a:r>
          </a:p>
        </p:txBody>
      </p:sp>
      <p:sp>
        <p:nvSpPr>
          <p:cNvPr id="4" name="TextBox 3"/>
          <p:cNvSpPr txBox="1"/>
          <p:nvPr/>
        </p:nvSpPr>
        <p:spPr>
          <a:xfrm>
            <a:off x="603504" y="6355080"/>
            <a:ext cx="9601200" cy="320040"/>
          </a:xfrm>
          <a:prstGeom prst="rect">
            <a:avLst/>
          </a:prstGeom>
          <a:noFill/>
        </p:spPr>
        <p:txBody>
          <a:bodyPr wrap="square" lIns="0" tIns="0" rIns="0" bIns="0">
            <a:spAutoFit/>
          </a:bodyPr>
          <a:lstStyle/>
          <a:p>
            <a:pPr>
              <a:defRPr sz="1000">
                <a:solidFill>
                  <a:srgbClr val="526574"/>
                </a:solidFill>
                <a:latin typeface="Calibri"/>
              </a:defRPr>
            </a:pPr>
            <a:r>
              <a:t>Exam-Flow  |  IEEE TOK-CSES 2026</a:t>
            </a:r>
          </a:p>
        </p:txBody>
      </p:sp>
      <p:sp>
        <p:nvSpPr>
          <p:cNvPr id="5" name="TextBox 4"/>
          <p:cNvSpPr txBox="1"/>
          <p:nvPr/>
        </p:nvSpPr>
        <p:spPr>
          <a:xfrm>
            <a:off x="10789920" y="6355080"/>
            <a:ext cx="777240" cy="320040"/>
          </a:xfrm>
          <a:prstGeom prst="rect">
            <a:avLst/>
          </a:prstGeom>
          <a:noFill/>
        </p:spPr>
        <p:txBody>
          <a:bodyPr wrap="none" lIns="0" tIns="0" rIns="0" bIns="0">
            <a:spAutoFit/>
          </a:bodyPr>
          <a:lstStyle/>
          <a:p>
            <a:pPr algn="r">
              <a:defRPr sz="1000">
                <a:solidFill>
                  <a:srgbClr val="526574"/>
                </a:solidFill>
                <a:latin typeface="Calibri"/>
              </a:defRPr>
            </a:pPr>
            <a:r>
              <a:t>10</a:t>
            </a:r>
          </a:p>
        </p:txBody>
      </p:sp>
      <p:graphicFrame>
        <p:nvGraphicFramePr>
          <p:cNvPr id="6" name="Table 5"/>
          <p:cNvGraphicFramePr>
            <a:graphicFrameLocks noGrp="1"/>
          </p:cNvGraphicFramePr>
          <p:nvPr/>
        </p:nvGraphicFramePr>
        <p:xfrm>
          <a:off x="603504" y="1783080"/>
          <a:ext cx="10972800" cy="3931920"/>
        </p:xfrm>
        <a:graphic>
          <a:graphicData uri="http://schemas.openxmlformats.org/drawingml/2006/table">
            <a:tbl>
              <a:tblPr firstRow="1" bandRow="1">
                <a:tableStyleId>{5C22544A-7EE6-4342-B048-85BDC9FD1C3A}</a:tableStyleId>
              </a:tblPr>
              <a:tblGrid>
                <a:gridCol w="777240">
                  <a:extLst>
                    <a:ext uri="{9D8B030D-6E8A-4147-A177-3AD203B41FA5}">
                      <a16:colId xmlns:a16="http://schemas.microsoft.com/office/drawing/2014/main" val="20000"/>
                    </a:ext>
                  </a:extLst>
                </a:gridCol>
                <a:gridCol w="342900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gridCol w="2011680">
                  <a:extLst>
                    <a:ext uri="{9D8B030D-6E8A-4147-A177-3AD203B41FA5}">
                      <a16:colId xmlns:a16="http://schemas.microsoft.com/office/drawing/2014/main" val="20003"/>
                    </a:ext>
                  </a:extLst>
                </a:gridCol>
                <a:gridCol w="3474720">
                  <a:extLst>
                    <a:ext uri="{9D8B030D-6E8A-4147-A177-3AD203B41FA5}">
                      <a16:colId xmlns:a16="http://schemas.microsoft.com/office/drawing/2014/main" val="20004"/>
                    </a:ext>
                  </a:extLst>
                </a:gridCol>
              </a:tblGrid>
              <a:tr h="786384">
                <a:tc>
                  <a:txBody>
                    <a:bodyPr/>
                    <a:lstStyle/>
                    <a:p>
                      <a:pPr>
                        <a:defRPr sz="1150" b="1">
                          <a:solidFill>
                            <a:srgbClr val="FFFFFF"/>
                          </a:solidFill>
                          <a:latin typeface="Calibri"/>
                        </a:defRPr>
                      </a:pPr>
                      <a:r>
                        <a:t>Case</a:t>
                      </a:r>
                    </a:p>
                  </a:txBody>
                  <a:tcPr>
                    <a:solidFill>
                      <a:srgbClr val="153448"/>
                    </a:solidFill>
                  </a:tcPr>
                </a:tc>
                <a:tc>
                  <a:txBody>
                    <a:bodyPr/>
                    <a:lstStyle/>
                    <a:p>
                      <a:pPr>
                        <a:defRPr sz="1150" b="1">
                          <a:solidFill>
                            <a:srgbClr val="FFFFFF"/>
                          </a:solidFill>
                          <a:latin typeface="Calibri"/>
                        </a:defRPr>
                      </a:pPr>
                      <a:r>
                        <a:t>The Scenario (What Happened)</a:t>
                      </a:r>
                    </a:p>
                  </a:txBody>
                  <a:tcPr>
                    <a:solidFill>
                      <a:srgbClr val="153448"/>
                    </a:solidFill>
                  </a:tcPr>
                </a:tc>
                <a:tc>
                  <a:txBody>
                    <a:bodyPr/>
                    <a:lstStyle/>
                    <a:p>
                      <a:pPr>
                        <a:defRPr sz="1150" b="1">
                          <a:solidFill>
                            <a:srgbClr val="FFFFFF"/>
                          </a:solidFill>
                          <a:latin typeface="Calibri"/>
                        </a:defRPr>
                      </a:pPr>
                      <a:r>
                        <a:t>Ground Truth</a:t>
                      </a:r>
                    </a:p>
                  </a:txBody>
                  <a:tcPr>
                    <a:solidFill>
                      <a:srgbClr val="153448"/>
                    </a:solidFill>
                  </a:tcPr>
                </a:tc>
                <a:tc>
                  <a:txBody>
                    <a:bodyPr/>
                    <a:lstStyle/>
                    <a:p>
                      <a:pPr>
                        <a:defRPr sz="1150" b="1">
                          <a:solidFill>
                            <a:srgbClr val="FFFFFF"/>
                          </a:solidFill>
                          <a:latin typeface="Calibri"/>
                        </a:defRPr>
                      </a:pPr>
                      <a:r>
                        <a:t>System Verdict</a:t>
                      </a:r>
                    </a:p>
                  </a:txBody>
                  <a:tcPr>
                    <a:solidFill>
                      <a:srgbClr val="153448"/>
                    </a:solidFill>
                  </a:tcPr>
                </a:tc>
                <a:tc>
                  <a:txBody>
                    <a:bodyPr/>
                    <a:lstStyle/>
                    <a:p>
                      <a:pPr>
                        <a:defRPr sz="1150" b="1">
                          <a:solidFill>
                            <a:srgbClr val="FFFFFF"/>
                          </a:solidFill>
                          <a:latin typeface="Calibri"/>
                        </a:defRPr>
                      </a:pPr>
                      <a:r>
                        <a:t>Why This Case Matters</a:t>
                      </a:r>
                    </a:p>
                  </a:txBody>
                  <a:tcPr>
                    <a:solidFill>
                      <a:srgbClr val="153448"/>
                    </a:solidFill>
                  </a:tcPr>
                </a:tc>
                <a:extLst>
                  <a:ext uri="{0D108BD9-81ED-4DB2-BD59-A6C34878D82A}">
                    <a16:rowId xmlns:a16="http://schemas.microsoft.com/office/drawing/2014/main" val="10000"/>
                  </a:ext>
                </a:extLst>
              </a:tr>
              <a:tr h="786384">
                <a:tc>
                  <a:txBody>
                    <a:bodyPr/>
                    <a:lstStyle/>
                    <a:p>
                      <a:pPr>
                        <a:defRPr sz="1100" b="1">
                          <a:solidFill>
                            <a:srgbClr val="153448"/>
                          </a:solidFill>
                          <a:latin typeface="Calibri"/>
                        </a:defRPr>
                      </a:pPr>
                      <a:r>
                        <a:t>T1</a:t>
                      </a:r>
                    </a:p>
                  </a:txBody>
                  <a:tcPr marL="73152" marR="73152" marT="54864" marB="54864">
                    <a:solidFill>
                      <a:srgbClr val="EBF1F6"/>
                    </a:solidFill>
                  </a:tcPr>
                </a:tc>
                <a:tc>
                  <a:txBody>
                    <a:bodyPr/>
                    <a:lstStyle/>
                    <a:p>
                      <a:pPr>
                        <a:defRPr sz="1100">
                          <a:solidFill>
                            <a:srgbClr val="526574"/>
                          </a:solidFill>
                          <a:latin typeface="Calibri"/>
                        </a:defRPr>
                      </a:pPr>
                      <a:r>
                        <a:t>Honest Coding: Incremental typing of Bubble Sort over several minutes.</a:t>
                      </a:r>
                    </a:p>
                  </a:txBody>
                  <a:tcPr marL="73152" marR="73152" marT="54864" marB="54864">
                    <a:solidFill>
                      <a:srgbClr val="EBF1F6"/>
                    </a:solidFill>
                  </a:tcPr>
                </a:tc>
                <a:tc>
                  <a:txBody>
                    <a:bodyPr/>
                    <a:lstStyle/>
                    <a:p>
                      <a:pPr>
                        <a:defRPr sz="1100" b="1">
                          <a:solidFill>
                            <a:srgbClr val="065F46"/>
                          </a:solidFill>
                          <a:latin typeface="Calibri"/>
                        </a:defRPr>
                      </a:pPr>
                      <a:r>
                        <a:t>PASS</a:t>
                      </a:r>
                    </a:p>
                  </a:txBody>
                  <a:tcPr marL="73152" marR="73152" marT="54864" marB="54864">
                    <a:solidFill>
                      <a:srgbClr val="EBF1F6"/>
                    </a:solidFill>
                  </a:tcPr>
                </a:tc>
                <a:tc>
                  <a:txBody>
                    <a:bodyPr/>
                    <a:lstStyle/>
                    <a:p>
                      <a:pPr>
                        <a:defRPr sz="1100" b="1">
                          <a:solidFill>
                            <a:srgbClr val="065F46"/>
                          </a:solidFill>
                          <a:latin typeface="Calibri"/>
                        </a:defRPr>
                      </a:pPr>
                      <a:r>
                        <a:t>PASS</a:t>
                      </a:r>
                    </a:p>
                    <a:p>
                      <a:pPr>
                        <a:defRPr sz="950" i="1">
                          <a:solidFill>
                            <a:srgbClr val="526574"/>
                          </a:solidFill>
                          <a:latin typeface="Calibri"/>
                        </a:defRPr>
                      </a:pPr>
                      <a:r>
                        <a:t>(Score: 100/100)</a:t>
                      </a:r>
                    </a:p>
                  </a:txBody>
                  <a:tcPr marL="73152" marR="73152" marT="54864" marB="54864">
                    <a:solidFill>
                      <a:srgbClr val="EBF1F6"/>
                    </a:solidFill>
                  </a:tcPr>
                </a:tc>
                <a:tc>
                  <a:txBody>
                    <a:bodyPr/>
                    <a:lstStyle/>
                    <a:p>
                      <a:pPr>
                        <a:defRPr sz="1100">
                          <a:solidFill>
                            <a:srgbClr val="526574"/>
                          </a:solidFill>
                          <a:latin typeface="Calibri"/>
                        </a:defRPr>
                      </a:pPr>
                      <a:r>
                        <a:t>Proves the system does not trigger false alarms on normal, honest behavior.</a:t>
                      </a:r>
                    </a:p>
                  </a:txBody>
                  <a:tcPr marL="73152" marR="73152" marT="54864" marB="54864">
                    <a:solidFill>
                      <a:srgbClr val="EBF1F6"/>
                    </a:solidFill>
                  </a:tcPr>
                </a:tc>
                <a:extLst>
                  <a:ext uri="{0D108BD9-81ED-4DB2-BD59-A6C34878D82A}">
                    <a16:rowId xmlns:a16="http://schemas.microsoft.com/office/drawing/2014/main" val="10001"/>
                  </a:ext>
                </a:extLst>
              </a:tr>
              <a:tr h="786384">
                <a:tc>
                  <a:txBody>
                    <a:bodyPr/>
                    <a:lstStyle/>
                    <a:p>
                      <a:pPr>
                        <a:defRPr sz="1100" b="1">
                          <a:solidFill>
                            <a:srgbClr val="153448"/>
                          </a:solidFill>
                          <a:latin typeface="Calibri"/>
                        </a:defRPr>
                      </a:pPr>
                      <a:r>
                        <a:t>T2</a:t>
                      </a:r>
                    </a:p>
                  </a:txBody>
                  <a:tcPr marL="73152" marR="73152" marT="54864" marB="54864">
                    <a:solidFill>
                      <a:srgbClr val="FFFFFF"/>
                    </a:solidFill>
                  </a:tcPr>
                </a:tc>
                <a:tc>
                  <a:txBody>
                    <a:bodyPr/>
                    <a:lstStyle/>
                    <a:p>
                      <a:pPr>
                        <a:defRPr sz="1100">
                          <a:solidFill>
                            <a:srgbClr val="526574"/>
                          </a:solidFill>
                          <a:latin typeface="Calibri"/>
                        </a:defRPr>
                      </a:pPr>
                      <a:r>
                        <a:t>Sudden Logic: A complete Binary Search algorithm is pasted into an empty editor in under 1 second.</a:t>
                      </a:r>
                    </a:p>
                  </a:txBody>
                  <a:tcPr marL="73152" marR="73152" marT="54864" marB="54864">
                    <a:solidFill>
                      <a:srgbClr val="FFFFFF"/>
                    </a:solidFill>
                  </a:tcPr>
                </a:tc>
                <a:tc>
                  <a:txBody>
                    <a:bodyPr/>
                    <a:lstStyle/>
                    <a:p>
                      <a:pPr>
                        <a:defRPr sz="1100" b="1">
                          <a:solidFill>
                            <a:srgbClr val="991B1B"/>
                          </a:solidFill>
                          <a:latin typeface="Calibri"/>
                        </a:defRPr>
                      </a:pPr>
                      <a:r>
                        <a:t>FAIL</a:t>
                      </a:r>
                    </a:p>
                  </a:txBody>
                  <a:tcPr marL="73152" marR="73152" marT="54864" marB="54864">
                    <a:solidFill>
                      <a:srgbClr val="FFFFFF"/>
                    </a:solidFill>
                  </a:tcPr>
                </a:tc>
                <a:tc>
                  <a:txBody>
                    <a:bodyPr/>
                    <a:lstStyle/>
                    <a:p>
                      <a:pPr>
                        <a:defRPr sz="1100" b="1">
                          <a:solidFill>
                            <a:srgbClr val="991B1B"/>
                          </a:solidFill>
                          <a:latin typeface="Calibri"/>
                        </a:defRPr>
                      </a:pPr>
                      <a:r>
                        <a:t>FAIL</a:t>
                      </a:r>
                    </a:p>
                    <a:p>
                      <a:pPr>
                        <a:defRPr sz="950" i="1">
                          <a:solidFill>
                            <a:srgbClr val="526574"/>
                          </a:solidFill>
                          <a:latin typeface="Calibri"/>
                        </a:defRPr>
                      </a:pPr>
                      <a:r>
                        <a:t>(Flagged at 00:19)</a:t>
                      </a:r>
                    </a:p>
                  </a:txBody>
                  <a:tcPr marL="73152" marR="73152" marT="54864" marB="54864">
                    <a:solidFill>
                      <a:srgbClr val="FFFFFF"/>
                    </a:solidFill>
                  </a:tcPr>
                </a:tc>
                <a:tc>
                  <a:txBody>
                    <a:bodyPr/>
                    <a:lstStyle/>
                    <a:p>
                      <a:pPr>
                        <a:defRPr sz="1100">
                          <a:solidFill>
                            <a:srgbClr val="526574"/>
                          </a:solidFill>
                          <a:latin typeface="Calibri"/>
                        </a:defRPr>
                      </a:pPr>
                      <a:r>
                        <a:t>Proves the Code Reviewer successfully catches instant code injection.</a:t>
                      </a:r>
                    </a:p>
                  </a:txBody>
                  <a:tcPr marL="73152" marR="73152" marT="54864" marB="54864">
                    <a:solidFill>
                      <a:srgbClr val="FFFFFF"/>
                    </a:solidFill>
                  </a:tcPr>
                </a:tc>
                <a:extLst>
                  <a:ext uri="{0D108BD9-81ED-4DB2-BD59-A6C34878D82A}">
                    <a16:rowId xmlns:a16="http://schemas.microsoft.com/office/drawing/2014/main" val="10002"/>
                  </a:ext>
                </a:extLst>
              </a:tr>
              <a:tr h="786384">
                <a:tc>
                  <a:txBody>
                    <a:bodyPr/>
                    <a:lstStyle/>
                    <a:p>
                      <a:pPr>
                        <a:defRPr sz="1100" b="1">
                          <a:solidFill>
                            <a:srgbClr val="153448"/>
                          </a:solidFill>
                          <a:latin typeface="Calibri"/>
                        </a:defRPr>
                      </a:pPr>
                      <a:r>
                        <a:t>T3</a:t>
                      </a:r>
                    </a:p>
                  </a:txBody>
                  <a:tcPr marL="73152" marR="73152" marT="54864" marB="54864">
                    <a:solidFill>
                      <a:srgbClr val="EBF1F6"/>
                    </a:solidFill>
                  </a:tcPr>
                </a:tc>
                <a:tc>
                  <a:txBody>
                    <a:bodyPr/>
                    <a:lstStyle/>
                    <a:p>
                      <a:pPr>
                        <a:defRPr sz="1100">
                          <a:solidFill>
                            <a:srgbClr val="526574"/>
                          </a:solidFill>
                          <a:latin typeface="Calibri"/>
                        </a:defRPr>
                      </a:pPr>
                      <a:r>
                        <a:t>The Mismatch: Student types recursive Java on screen, but submits a Python file with a while loop.</a:t>
                      </a:r>
                    </a:p>
                  </a:txBody>
                  <a:tcPr marL="73152" marR="73152" marT="54864" marB="54864">
                    <a:solidFill>
                      <a:srgbClr val="EBF1F6"/>
                    </a:solidFill>
                  </a:tcPr>
                </a:tc>
                <a:tc>
                  <a:txBody>
                    <a:bodyPr/>
                    <a:lstStyle/>
                    <a:p>
                      <a:pPr>
                        <a:defRPr sz="1100" b="1">
                          <a:solidFill>
                            <a:srgbClr val="991B1B"/>
                          </a:solidFill>
                          <a:latin typeface="Calibri"/>
                        </a:defRPr>
                      </a:pPr>
                      <a:r>
                        <a:t>FAIL</a:t>
                      </a:r>
                    </a:p>
                  </a:txBody>
                  <a:tcPr marL="73152" marR="73152" marT="54864" marB="54864">
                    <a:solidFill>
                      <a:srgbClr val="EBF1F6"/>
                    </a:solidFill>
                  </a:tcPr>
                </a:tc>
                <a:tc>
                  <a:txBody>
                    <a:bodyPr/>
                    <a:lstStyle/>
                    <a:p>
                      <a:pPr>
                        <a:defRPr sz="1100" b="1">
                          <a:solidFill>
                            <a:srgbClr val="991B1B"/>
                          </a:solidFill>
                          <a:latin typeface="Calibri"/>
                        </a:defRPr>
                      </a:pPr>
                      <a:r>
                        <a:t>FAIL</a:t>
                      </a:r>
                    </a:p>
                    <a:p>
                      <a:pPr>
                        <a:defRPr sz="950" i="1">
                          <a:solidFill>
                            <a:srgbClr val="526574"/>
                          </a:solidFill>
                          <a:latin typeface="Calibri"/>
                        </a:defRPr>
                      </a:pPr>
                      <a:r>
                        <a:t>(Grade capped: 10/100)</a:t>
                      </a:r>
                    </a:p>
                  </a:txBody>
                  <a:tcPr marL="73152" marR="73152" marT="54864" marB="54864">
                    <a:solidFill>
                      <a:srgbClr val="EBF1F6"/>
                    </a:solidFill>
                  </a:tcPr>
                </a:tc>
                <a:tc>
                  <a:txBody>
                    <a:bodyPr/>
                    <a:lstStyle/>
                    <a:p>
                      <a:pPr>
                        <a:defRPr sz="1100">
                          <a:solidFill>
                            <a:srgbClr val="526574"/>
                          </a:solidFill>
                          <a:latin typeface="Calibri"/>
                        </a:defRPr>
                      </a:pPr>
                      <a:r>
                        <a:t>Proves the Auditor catches discrepancies between the video and final file.</a:t>
                      </a:r>
                    </a:p>
                  </a:txBody>
                  <a:tcPr marL="73152" marR="73152" marT="54864" marB="54864">
                    <a:solidFill>
                      <a:srgbClr val="EBF1F6"/>
                    </a:solidFill>
                  </a:tcPr>
                </a:tc>
                <a:extLst>
                  <a:ext uri="{0D108BD9-81ED-4DB2-BD59-A6C34878D82A}">
                    <a16:rowId xmlns:a16="http://schemas.microsoft.com/office/drawing/2014/main" val="10003"/>
                  </a:ext>
                </a:extLst>
              </a:tr>
              <a:tr h="786384">
                <a:tc>
                  <a:txBody>
                    <a:bodyPr/>
                    <a:lstStyle/>
                    <a:p>
                      <a:pPr>
                        <a:defRPr sz="1100" b="1">
                          <a:solidFill>
                            <a:srgbClr val="153448"/>
                          </a:solidFill>
                          <a:latin typeface="Calibri"/>
                        </a:defRPr>
                      </a:pPr>
                      <a:r>
                        <a:t>T4</a:t>
                      </a:r>
                    </a:p>
                  </a:txBody>
                  <a:tcPr marL="73152" marR="73152" marT="54864" marB="54864">
                    <a:solidFill>
                      <a:srgbClr val="FFFFFF"/>
                    </a:solidFill>
                  </a:tcPr>
                </a:tc>
                <a:tc>
                  <a:txBody>
                    <a:bodyPr/>
                    <a:lstStyle/>
                    <a:p>
                      <a:pPr>
                        <a:defRPr sz="1100">
                          <a:solidFill>
                            <a:srgbClr val="526574"/>
                          </a:solidFill>
                          <a:latin typeface="Calibri"/>
                        </a:defRPr>
                      </a:pPr>
                      <a:r>
                        <a:t>The Evasion: Student uses AI assistance and glances away. AI incorrectly reports "face not visible."</a:t>
                      </a:r>
                    </a:p>
                  </a:txBody>
                  <a:tcPr marL="73152" marR="73152" marT="54864" marB="54864">
                    <a:solidFill>
                      <a:srgbClr val="FFFFFF"/>
                    </a:solidFill>
                  </a:tcPr>
                </a:tc>
                <a:tc>
                  <a:txBody>
                    <a:bodyPr/>
                    <a:lstStyle/>
                    <a:p>
                      <a:pPr>
                        <a:defRPr sz="1100" b="1">
                          <a:solidFill>
                            <a:srgbClr val="991B1B"/>
                          </a:solidFill>
                          <a:latin typeface="Calibri"/>
                        </a:defRPr>
                      </a:pPr>
                      <a:r>
                        <a:t>FAIL</a:t>
                      </a:r>
                    </a:p>
                  </a:txBody>
                  <a:tcPr marL="73152" marR="73152" marT="54864" marB="54864">
                    <a:solidFill>
                      <a:srgbClr val="FFFFFF"/>
                    </a:solidFill>
                  </a:tcPr>
                </a:tc>
                <a:tc>
                  <a:txBody>
                    <a:bodyPr/>
                    <a:lstStyle/>
                    <a:p>
                      <a:pPr>
                        <a:defRPr sz="1100" b="1">
                          <a:solidFill>
                            <a:srgbClr val="B45309"/>
                          </a:solidFill>
                          <a:latin typeface="Calibri"/>
                        </a:defRPr>
                      </a:pPr>
                      <a:r>
                        <a:t>INVESTIGATION</a:t>
                      </a:r>
                    </a:p>
                    <a:p>
                      <a:pPr>
                        <a:defRPr sz="950" i="1">
                          <a:solidFill>
                            <a:srgbClr val="526574"/>
                          </a:solidFill>
                          <a:latin typeface="Calibri"/>
                        </a:defRPr>
                      </a:pPr>
                      <a:r>
                        <a:t>(Grade capped: 20/100)</a:t>
                      </a:r>
                    </a:p>
                  </a:txBody>
                  <a:tcPr marL="73152" marR="73152" marT="54864" marB="54864">
                    <a:solidFill>
                      <a:srgbClr val="FFFFFF"/>
                    </a:solidFill>
                  </a:tcPr>
                </a:tc>
                <a:tc>
                  <a:txBody>
                    <a:bodyPr/>
                    <a:lstStyle/>
                    <a:p>
                      <a:pPr>
                        <a:defRPr sz="1100">
                          <a:solidFill>
                            <a:srgbClr val="526574"/>
                          </a:solidFill>
                          <a:latin typeface="Calibri"/>
                        </a:defRPr>
                      </a:pPr>
                      <a:r>
                        <a:t>Proves that AI makes mistakes. The system flagged it for Human Review rather than a hard auto-fail.</a:t>
                      </a:r>
                    </a:p>
                  </a:txBody>
                  <a:tcPr marL="73152" marR="73152" marT="54864" marB="54864">
                    <a:solidFill>
                      <a:srgbClr val="FFFFFF"/>
                    </a:solidFill>
                  </a:tcPr>
                </a:tc>
                <a:extLst>
                  <a:ext uri="{0D108BD9-81ED-4DB2-BD59-A6C34878D82A}">
                    <a16:rowId xmlns:a16="http://schemas.microsoft.com/office/drawing/2014/main" val="10004"/>
                  </a:ext>
                </a:extLst>
              </a:tr>
            </a:tbl>
          </a:graphicData>
        </a:graphic>
      </p:graphicFrame>
      <p:sp>
        <p:nvSpPr>
          <p:cNvPr id="7" name="TextBox 6"/>
          <p:cNvSpPr txBox="1"/>
          <p:nvPr/>
        </p:nvSpPr>
        <p:spPr>
          <a:xfrm>
            <a:off x="603504" y="5806440"/>
            <a:ext cx="10972800" cy="365760"/>
          </a:xfrm>
          <a:prstGeom prst="rect">
            <a:avLst/>
          </a:prstGeom>
          <a:noFill/>
        </p:spPr>
        <p:txBody>
          <a:bodyPr wrap="square">
            <a:spAutoFit/>
          </a:bodyPr>
          <a:lstStyle/>
          <a:p>
            <a:pPr>
              <a:defRPr sz="1100" i="1">
                <a:solidFill>
                  <a:srgbClr val="526574"/>
                </a:solidFill>
                <a:latin typeface="Calibri"/>
              </a:defRPr>
            </a:pPr>
            <a:r>
              <a:t>Study Scope: Four curated demonstration packages recorded by the developer. Evaluation unit: trial package.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9FB"/>
        </a:solidFill>
        <a:effectLst/>
      </p:bgPr>
    </p:bg>
    <p:spTree>
      <p:nvGrpSpPr>
        <p:cNvPr id="1" name=""/>
        <p:cNvGrpSpPr/>
        <p:nvPr/>
      </p:nvGrpSpPr>
      <p:grpSpPr>
        <a:xfrm>
          <a:off x="0" y="0"/>
          <a:ext cx="0" cy="0"/>
          <a:chOff x="0" y="0"/>
          <a:chExt cx="0" cy="0"/>
        </a:xfrm>
      </p:grpSpPr>
      <p:sp>
        <p:nvSpPr>
          <p:cNvPr id="2" name="TextBox 1"/>
          <p:cNvSpPr txBox="1"/>
          <p:nvPr/>
        </p:nvSpPr>
        <p:spPr>
          <a:xfrm>
            <a:off x="603504" y="411480"/>
            <a:ext cx="10972800" cy="777240"/>
          </a:xfrm>
          <a:prstGeom prst="rect">
            <a:avLst/>
          </a:prstGeom>
          <a:noFill/>
        </p:spPr>
        <p:txBody>
          <a:bodyPr wrap="square" lIns="0" tIns="0" rIns="0" bIns="0">
            <a:spAutoFit/>
          </a:bodyPr>
          <a:lstStyle/>
          <a:p>
            <a:pPr>
              <a:defRPr sz="2800" b="1">
                <a:solidFill>
                  <a:srgbClr val="153448"/>
                </a:solidFill>
                <a:latin typeface="Calibri"/>
              </a:defRPr>
            </a:pPr>
            <a:r>
              <a:t>Trial 1: Honest Baseline (T1)</a:t>
            </a:r>
          </a:p>
        </p:txBody>
      </p:sp>
      <p:sp>
        <p:nvSpPr>
          <p:cNvPr id="3" name="TextBox 2"/>
          <p:cNvSpPr txBox="1"/>
          <p:nvPr/>
        </p:nvSpPr>
        <p:spPr>
          <a:xfrm>
            <a:off x="603504" y="1170432"/>
            <a:ext cx="10972800" cy="502920"/>
          </a:xfrm>
          <a:prstGeom prst="rect">
            <a:avLst/>
          </a:prstGeom>
          <a:noFill/>
        </p:spPr>
        <p:txBody>
          <a:bodyPr wrap="square" lIns="0" tIns="0" rIns="0" bIns="0">
            <a:spAutoFit/>
          </a:bodyPr>
          <a:lstStyle/>
          <a:p>
            <a:pPr>
              <a:defRPr sz="1400">
                <a:solidFill>
                  <a:srgbClr val="526574"/>
                </a:solidFill>
                <a:latin typeface="Calibri"/>
              </a:defRPr>
            </a:pPr>
            <a:r>
              <a:t>Bubble Sort: Incremental code progression without anomalies.</a:t>
            </a:r>
          </a:p>
        </p:txBody>
      </p:sp>
      <p:sp>
        <p:nvSpPr>
          <p:cNvPr id="4" name="TextBox 3"/>
          <p:cNvSpPr txBox="1"/>
          <p:nvPr/>
        </p:nvSpPr>
        <p:spPr>
          <a:xfrm>
            <a:off x="603504" y="6355080"/>
            <a:ext cx="9601200" cy="320040"/>
          </a:xfrm>
          <a:prstGeom prst="rect">
            <a:avLst/>
          </a:prstGeom>
          <a:noFill/>
        </p:spPr>
        <p:txBody>
          <a:bodyPr wrap="square" lIns="0" tIns="0" rIns="0" bIns="0">
            <a:spAutoFit/>
          </a:bodyPr>
          <a:lstStyle/>
          <a:p>
            <a:pPr>
              <a:defRPr sz="1000">
                <a:solidFill>
                  <a:srgbClr val="526574"/>
                </a:solidFill>
                <a:latin typeface="Calibri"/>
              </a:defRPr>
            </a:pPr>
            <a:r>
              <a:t>Exam-Flow  |  IEEE TOK-CSES 2026</a:t>
            </a:r>
          </a:p>
        </p:txBody>
      </p:sp>
      <p:sp>
        <p:nvSpPr>
          <p:cNvPr id="5" name="TextBox 4"/>
          <p:cNvSpPr txBox="1"/>
          <p:nvPr/>
        </p:nvSpPr>
        <p:spPr>
          <a:xfrm>
            <a:off x="10789920" y="6355080"/>
            <a:ext cx="777240" cy="320040"/>
          </a:xfrm>
          <a:prstGeom prst="rect">
            <a:avLst/>
          </a:prstGeom>
          <a:noFill/>
        </p:spPr>
        <p:txBody>
          <a:bodyPr wrap="none" lIns="0" tIns="0" rIns="0" bIns="0">
            <a:spAutoFit/>
          </a:bodyPr>
          <a:lstStyle/>
          <a:p>
            <a:pPr algn="r">
              <a:defRPr sz="1000">
                <a:solidFill>
                  <a:srgbClr val="526574"/>
                </a:solidFill>
                <a:latin typeface="Calibri"/>
              </a:defRPr>
            </a:pPr>
            <a:r>
              <a:t>11</a:t>
            </a:r>
          </a:p>
        </p:txBody>
      </p:sp>
      <p:pic>
        <p:nvPicPr>
          <p:cNvPr id="6" name="Picture 5" descr="image.png"/>
          <p:cNvPicPr>
            <a:picLocks noChangeAspect="1"/>
          </p:cNvPicPr>
          <p:nvPr/>
        </p:nvPicPr>
        <p:blipFill>
          <a:blip r:embed="rId3"/>
          <a:stretch>
            <a:fillRect/>
          </a:stretch>
        </p:blipFill>
        <p:spPr>
          <a:xfrm>
            <a:off x="731520" y="1920240"/>
            <a:ext cx="5120640" cy="2880360"/>
          </a:xfrm>
          <a:prstGeom prst="rect">
            <a:avLst/>
          </a:prstGeom>
        </p:spPr>
      </p:pic>
      <p:pic>
        <p:nvPicPr>
          <p:cNvPr id="7" name="Picture 6" descr="image.png"/>
          <p:cNvPicPr>
            <a:picLocks noChangeAspect="1"/>
          </p:cNvPicPr>
          <p:nvPr/>
        </p:nvPicPr>
        <p:blipFill>
          <a:blip r:embed="rId4"/>
          <a:stretch>
            <a:fillRect/>
          </a:stretch>
        </p:blipFill>
        <p:spPr>
          <a:xfrm>
            <a:off x="6309360" y="1920240"/>
            <a:ext cx="5120640" cy="2880360"/>
          </a:xfrm>
          <a:prstGeom prst="rect">
            <a:avLst/>
          </a:prstGeom>
        </p:spPr>
      </p:pic>
      <p:sp>
        <p:nvSpPr>
          <p:cNvPr id="8" name="TextBox 7"/>
          <p:cNvSpPr txBox="1"/>
          <p:nvPr/>
        </p:nvSpPr>
        <p:spPr>
          <a:xfrm>
            <a:off x="731520" y="4892040"/>
            <a:ext cx="5120640" cy="365760"/>
          </a:xfrm>
          <a:prstGeom prst="rect">
            <a:avLst/>
          </a:prstGeom>
          <a:noFill/>
        </p:spPr>
        <p:txBody>
          <a:bodyPr wrap="square">
            <a:spAutoFit/>
          </a:bodyPr>
          <a:lstStyle/>
          <a:p>
            <a:pPr>
              <a:defRPr sz="1200">
                <a:solidFill>
                  <a:srgbClr val="526574"/>
                </a:solidFill>
                <a:latin typeface="Calibri"/>
              </a:defRPr>
            </a:pPr>
            <a:r>
              <a:t>00:15 — Early method initialization &amp; class setup</a:t>
            </a:r>
          </a:p>
        </p:txBody>
      </p:sp>
      <p:sp>
        <p:nvSpPr>
          <p:cNvPr id="9" name="TextBox 8"/>
          <p:cNvSpPr txBox="1"/>
          <p:nvPr/>
        </p:nvSpPr>
        <p:spPr>
          <a:xfrm>
            <a:off x="6309360" y="4892040"/>
            <a:ext cx="5120640" cy="365760"/>
          </a:xfrm>
          <a:prstGeom prst="rect">
            <a:avLst/>
          </a:prstGeom>
          <a:noFill/>
        </p:spPr>
        <p:txBody>
          <a:bodyPr wrap="square">
            <a:spAutoFit/>
          </a:bodyPr>
          <a:lstStyle/>
          <a:p>
            <a:pPr>
              <a:defRPr sz="1200">
                <a:solidFill>
                  <a:srgbClr val="526574"/>
                </a:solidFill>
                <a:latin typeface="Calibri"/>
              </a:defRPr>
            </a:pPr>
            <a:r>
              <a:t>01:17 — Incremental loop construction &amp; swap logic</a:t>
            </a:r>
          </a:p>
        </p:txBody>
      </p:sp>
      <p:sp>
        <p:nvSpPr>
          <p:cNvPr id="10" name="TextBox 9"/>
          <p:cNvSpPr txBox="1"/>
          <p:nvPr/>
        </p:nvSpPr>
        <p:spPr>
          <a:xfrm>
            <a:off x="731520" y="5349240"/>
            <a:ext cx="10698480" cy="594360"/>
          </a:xfrm>
          <a:prstGeom prst="rect">
            <a:avLst/>
          </a:prstGeom>
          <a:noFill/>
        </p:spPr>
        <p:txBody>
          <a:bodyPr wrap="square">
            <a:spAutoFit/>
          </a:bodyPr>
          <a:lstStyle/>
          <a:p>
            <a:pPr algn="ctr">
              <a:defRPr sz="1400" b="1">
                <a:solidFill>
                  <a:srgbClr val="065F46"/>
                </a:solidFill>
                <a:latin typeface="Calibri"/>
              </a:defRPr>
            </a:pPr>
            <a:r>
              <a:t>AI Assessment Outcome: Verdict: PASS | AI Technical Score: 100/100 (Clean development timeline)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9FB"/>
        </a:solidFill>
        <a:effectLst/>
      </p:bgPr>
    </p:bg>
    <p:spTree>
      <p:nvGrpSpPr>
        <p:cNvPr id="1" name=""/>
        <p:cNvGrpSpPr/>
        <p:nvPr/>
      </p:nvGrpSpPr>
      <p:grpSpPr>
        <a:xfrm>
          <a:off x="0" y="0"/>
          <a:ext cx="0" cy="0"/>
          <a:chOff x="0" y="0"/>
          <a:chExt cx="0" cy="0"/>
        </a:xfrm>
      </p:grpSpPr>
      <p:sp>
        <p:nvSpPr>
          <p:cNvPr id="2" name="TextBox 1"/>
          <p:cNvSpPr txBox="1"/>
          <p:nvPr/>
        </p:nvSpPr>
        <p:spPr>
          <a:xfrm>
            <a:off x="603504" y="411480"/>
            <a:ext cx="10972800" cy="777240"/>
          </a:xfrm>
          <a:prstGeom prst="rect">
            <a:avLst/>
          </a:prstGeom>
          <a:noFill/>
        </p:spPr>
        <p:txBody>
          <a:bodyPr wrap="square" lIns="0" tIns="0" rIns="0" bIns="0">
            <a:spAutoFit/>
          </a:bodyPr>
          <a:lstStyle/>
          <a:p>
            <a:pPr>
              <a:defRPr sz="2800" b="1">
                <a:solidFill>
                  <a:srgbClr val="153448"/>
                </a:solidFill>
                <a:latin typeface="Calibri"/>
              </a:defRPr>
            </a:pPr>
            <a:r>
              <a:t>Trial 2: Sudden Code Appearance (T2)</a:t>
            </a:r>
          </a:p>
        </p:txBody>
      </p:sp>
      <p:sp>
        <p:nvSpPr>
          <p:cNvPr id="3" name="TextBox 2"/>
          <p:cNvSpPr txBox="1"/>
          <p:nvPr/>
        </p:nvSpPr>
        <p:spPr>
          <a:xfrm>
            <a:off x="603504" y="1170432"/>
            <a:ext cx="10972800" cy="502920"/>
          </a:xfrm>
          <a:prstGeom prst="rect">
            <a:avLst/>
          </a:prstGeom>
          <a:noFill/>
        </p:spPr>
        <p:txBody>
          <a:bodyPr wrap="square" lIns="0" tIns="0" rIns="0" bIns="0">
            <a:spAutoFit/>
          </a:bodyPr>
          <a:lstStyle/>
          <a:p>
            <a:pPr>
              <a:defRPr sz="1400">
                <a:solidFill>
                  <a:srgbClr val="526574"/>
                </a:solidFill>
                <a:latin typeface="Calibri"/>
              </a:defRPr>
            </a:pPr>
            <a:r>
              <a:t>Binary Search: A complex code block appears instantaneously in under 1 second.</a:t>
            </a:r>
          </a:p>
        </p:txBody>
      </p:sp>
      <p:sp>
        <p:nvSpPr>
          <p:cNvPr id="4" name="TextBox 3"/>
          <p:cNvSpPr txBox="1"/>
          <p:nvPr/>
        </p:nvSpPr>
        <p:spPr>
          <a:xfrm>
            <a:off x="603504" y="6355080"/>
            <a:ext cx="9601200" cy="320040"/>
          </a:xfrm>
          <a:prstGeom prst="rect">
            <a:avLst/>
          </a:prstGeom>
          <a:noFill/>
        </p:spPr>
        <p:txBody>
          <a:bodyPr wrap="square" lIns="0" tIns="0" rIns="0" bIns="0">
            <a:spAutoFit/>
          </a:bodyPr>
          <a:lstStyle/>
          <a:p>
            <a:pPr>
              <a:defRPr sz="1000">
                <a:solidFill>
                  <a:srgbClr val="526574"/>
                </a:solidFill>
                <a:latin typeface="Calibri"/>
              </a:defRPr>
            </a:pPr>
            <a:r>
              <a:t>Exam-Flow  |  IEEE TOK-CSES 2026</a:t>
            </a:r>
          </a:p>
        </p:txBody>
      </p:sp>
      <p:sp>
        <p:nvSpPr>
          <p:cNvPr id="5" name="TextBox 4"/>
          <p:cNvSpPr txBox="1"/>
          <p:nvPr/>
        </p:nvSpPr>
        <p:spPr>
          <a:xfrm>
            <a:off x="10789920" y="6355080"/>
            <a:ext cx="777240" cy="320040"/>
          </a:xfrm>
          <a:prstGeom prst="rect">
            <a:avLst/>
          </a:prstGeom>
          <a:noFill/>
        </p:spPr>
        <p:txBody>
          <a:bodyPr wrap="none" lIns="0" tIns="0" rIns="0" bIns="0">
            <a:spAutoFit/>
          </a:bodyPr>
          <a:lstStyle/>
          <a:p>
            <a:pPr algn="r">
              <a:defRPr sz="1000">
                <a:solidFill>
                  <a:srgbClr val="526574"/>
                </a:solidFill>
                <a:latin typeface="Calibri"/>
              </a:defRPr>
            </a:pPr>
            <a:r>
              <a:t>12</a:t>
            </a:r>
          </a:p>
        </p:txBody>
      </p:sp>
      <p:pic>
        <p:nvPicPr>
          <p:cNvPr id="6" name="Picture 5" descr="image.png"/>
          <p:cNvPicPr>
            <a:picLocks noChangeAspect="1"/>
          </p:cNvPicPr>
          <p:nvPr/>
        </p:nvPicPr>
        <p:blipFill>
          <a:blip r:embed="rId3"/>
          <a:stretch>
            <a:fillRect/>
          </a:stretch>
        </p:blipFill>
        <p:spPr>
          <a:xfrm>
            <a:off x="731520" y="1920240"/>
            <a:ext cx="5120640" cy="2880360"/>
          </a:xfrm>
          <a:prstGeom prst="rect">
            <a:avLst/>
          </a:prstGeom>
        </p:spPr>
      </p:pic>
      <p:pic>
        <p:nvPicPr>
          <p:cNvPr id="7" name="Picture 6" descr="image.png"/>
          <p:cNvPicPr>
            <a:picLocks noChangeAspect="1"/>
          </p:cNvPicPr>
          <p:nvPr/>
        </p:nvPicPr>
        <p:blipFill>
          <a:blip r:embed="rId4"/>
          <a:stretch>
            <a:fillRect/>
          </a:stretch>
        </p:blipFill>
        <p:spPr>
          <a:xfrm>
            <a:off x="6309360" y="1920240"/>
            <a:ext cx="5120640" cy="2880360"/>
          </a:xfrm>
          <a:prstGeom prst="rect">
            <a:avLst/>
          </a:prstGeom>
        </p:spPr>
      </p:pic>
      <p:sp>
        <p:nvSpPr>
          <p:cNvPr id="8" name="TextBox 7"/>
          <p:cNvSpPr txBox="1"/>
          <p:nvPr/>
        </p:nvSpPr>
        <p:spPr>
          <a:xfrm>
            <a:off x="731520" y="4892040"/>
            <a:ext cx="5120640" cy="365760"/>
          </a:xfrm>
          <a:prstGeom prst="rect">
            <a:avLst/>
          </a:prstGeom>
          <a:noFill/>
        </p:spPr>
        <p:txBody>
          <a:bodyPr wrap="square">
            <a:spAutoFit/>
          </a:bodyPr>
          <a:lstStyle/>
          <a:p>
            <a:pPr>
              <a:defRPr sz="1200">
                <a:solidFill>
                  <a:srgbClr val="526574"/>
                </a:solidFill>
                <a:latin typeface="Calibri"/>
              </a:defRPr>
            </a:pPr>
            <a:r>
              <a:t>00:19 — Editor class empty (no incremental typing)</a:t>
            </a:r>
          </a:p>
        </p:txBody>
      </p:sp>
      <p:sp>
        <p:nvSpPr>
          <p:cNvPr id="9" name="TextBox 8"/>
          <p:cNvSpPr txBox="1"/>
          <p:nvPr/>
        </p:nvSpPr>
        <p:spPr>
          <a:xfrm>
            <a:off x="6309360" y="4892040"/>
            <a:ext cx="5120640" cy="365760"/>
          </a:xfrm>
          <a:prstGeom prst="rect">
            <a:avLst/>
          </a:prstGeom>
          <a:noFill/>
        </p:spPr>
        <p:txBody>
          <a:bodyPr wrap="square">
            <a:spAutoFit/>
          </a:bodyPr>
          <a:lstStyle/>
          <a:p>
            <a:pPr>
              <a:defRPr sz="1200">
                <a:solidFill>
                  <a:srgbClr val="526574"/>
                </a:solidFill>
                <a:latin typeface="Calibri"/>
              </a:defRPr>
            </a:pPr>
            <a:r>
              <a:t>00:20 — Complete Binary Search implementation injected</a:t>
            </a:r>
          </a:p>
        </p:txBody>
      </p:sp>
      <p:sp>
        <p:nvSpPr>
          <p:cNvPr id="10" name="TextBox 9"/>
          <p:cNvSpPr txBox="1"/>
          <p:nvPr/>
        </p:nvSpPr>
        <p:spPr>
          <a:xfrm>
            <a:off x="731520" y="5349240"/>
            <a:ext cx="10698480" cy="594360"/>
          </a:xfrm>
          <a:prstGeom prst="rect">
            <a:avLst/>
          </a:prstGeom>
          <a:noFill/>
        </p:spPr>
        <p:txBody>
          <a:bodyPr wrap="square">
            <a:spAutoFit/>
          </a:bodyPr>
          <a:lstStyle/>
          <a:p>
            <a:pPr algn="ctr">
              <a:defRPr sz="1400" b="1">
                <a:solidFill>
                  <a:srgbClr val="991B1B"/>
                </a:solidFill>
                <a:latin typeface="Calibri"/>
              </a:defRPr>
            </a:pPr>
            <a:r>
              <a:t>AI Assessment Outcome: Sudden Logic Event Flagged | Verdict: FAIL (Instant paste bypasses typing process)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7F9FB"/>
        </a:solidFill>
        <a:effectLst/>
      </p:bgPr>
    </p:bg>
    <p:spTree>
      <p:nvGrpSpPr>
        <p:cNvPr id="1" name=""/>
        <p:cNvGrpSpPr/>
        <p:nvPr/>
      </p:nvGrpSpPr>
      <p:grpSpPr>
        <a:xfrm>
          <a:off x="0" y="0"/>
          <a:ext cx="0" cy="0"/>
          <a:chOff x="0" y="0"/>
          <a:chExt cx="0" cy="0"/>
        </a:xfrm>
      </p:grpSpPr>
      <p:sp>
        <p:nvSpPr>
          <p:cNvPr id="2" name="TextBox 1"/>
          <p:cNvSpPr txBox="1"/>
          <p:nvPr/>
        </p:nvSpPr>
        <p:spPr>
          <a:xfrm>
            <a:off x="603504" y="411480"/>
            <a:ext cx="10972800" cy="777240"/>
          </a:xfrm>
          <a:prstGeom prst="rect">
            <a:avLst/>
          </a:prstGeom>
          <a:noFill/>
        </p:spPr>
        <p:txBody>
          <a:bodyPr wrap="square" lIns="0" tIns="0" rIns="0" bIns="0">
            <a:spAutoFit/>
          </a:bodyPr>
          <a:lstStyle/>
          <a:p>
            <a:pPr>
              <a:defRPr sz="2800" b="1">
                <a:solidFill>
                  <a:srgbClr val="153448"/>
                </a:solidFill>
                <a:latin typeface="Calibri"/>
              </a:defRPr>
            </a:pPr>
            <a:r>
              <a:t>Trial 3: Recording / File Discrepancy (T3)</a:t>
            </a:r>
          </a:p>
        </p:txBody>
      </p:sp>
      <p:sp>
        <p:nvSpPr>
          <p:cNvPr id="3" name="TextBox 2"/>
          <p:cNvSpPr txBox="1"/>
          <p:nvPr/>
        </p:nvSpPr>
        <p:spPr>
          <a:xfrm>
            <a:off x="603504" y="1170432"/>
            <a:ext cx="10972800" cy="502920"/>
          </a:xfrm>
          <a:prstGeom prst="rect">
            <a:avLst/>
          </a:prstGeom>
          <a:noFill/>
        </p:spPr>
        <p:txBody>
          <a:bodyPr wrap="square" lIns="0" tIns="0" rIns="0" bIns="0">
            <a:spAutoFit/>
          </a:bodyPr>
          <a:lstStyle/>
          <a:p>
            <a:pPr>
              <a:defRPr sz="1400">
                <a:solidFill>
                  <a:srgbClr val="526574"/>
                </a:solidFill>
                <a:latin typeface="Calibri"/>
              </a:defRPr>
            </a:pPr>
            <a:r>
              <a:t>Factorial: Discrepancy between on-screen development and submitted artifact.</a:t>
            </a:r>
          </a:p>
        </p:txBody>
      </p:sp>
      <p:sp>
        <p:nvSpPr>
          <p:cNvPr id="4" name="TextBox 3"/>
          <p:cNvSpPr txBox="1"/>
          <p:nvPr/>
        </p:nvSpPr>
        <p:spPr>
          <a:xfrm>
            <a:off x="603504" y="6355080"/>
            <a:ext cx="9601200" cy="320040"/>
          </a:xfrm>
          <a:prstGeom prst="rect">
            <a:avLst/>
          </a:prstGeom>
          <a:noFill/>
        </p:spPr>
        <p:txBody>
          <a:bodyPr wrap="square" lIns="0" tIns="0" rIns="0" bIns="0">
            <a:spAutoFit/>
          </a:bodyPr>
          <a:lstStyle/>
          <a:p>
            <a:pPr>
              <a:defRPr sz="1000">
                <a:solidFill>
                  <a:srgbClr val="526574"/>
                </a:solidFill>
                <a:latin typeface="Calibri"/>
              </a:defRPr>
            </a:pPr>
            <a:r>
              <a:t>Exam-Flow  |  IEEE TOK-CSES 2026</a:t>
            </a:r>
          </a:p>
        </p:txBody>
      </p:sp>
      <p:sp>
        <p:nvSpPr>
          <p:cNvPr id="5" name="TextBox 4"/>
          <p:cNvSpPr txBox="1"/>
          <p:nvPr/>
        </p:nvSpPr>
        <p:spPr>
          <a:xfrm>
            <a:off x="10789920" y="6355080"/>
            <a:ext cx="777240" cy="320040"/>
          </a:xfrm>
          <a:prstGeom prst="rect">
            <a:avLst/>
          </a:prstGeom>
          <a:noFill/>
        </p:spPr>
        <p:txBody>
          <a:bodyPr wrap="none" lIns="0" tIns="0" rIns="0" bIns="0">
            <a:spAutoFit/>
          </a:bodyPr>
          <a:lstStyle/>
          <a:p>
            <a:pPr algn="r">
              <a:defRPr sz="1000">
                <a:solidFill>
                  <a:srgbClr val="526574"/>
                </a:solidFill>
                <a:latin typeface="Calibri"/>
              </a:defRPr>
            </a:pPr>
            <a:r>
              <a:t>13</a:t>
            </a:r>
          </a:p>
        </p:txBody>
      </p:sp>
      <p:pic>
        <p:nvPicPr>
          <p:cNvPr id="6" name="Picture 5" descr="image.png"/>
          <p:cNvPicPr>
            <a:picLocks noChangeAspect="1"/>
          </p:cNvPicPr>
          <p:nvPr/>
        </p:nvPicPr>
        <p:blipFill>
          <a:blip r:embed="rId3"/>
          <a:stretch>
            <a:fillRect/>
          </a:stretch>
        </p:blipFill>
        <p:spPr>
          <a:xfrm>
            <a:off x="731520" y="1920240"/>
            <a:ext cx="6035040" cy="3394710"/>
          </a:xfrm>
          <a:prstGeom prst="rect">
            <a:avLst/>
          </a:prstGeom>
        </p:spPr>
      </p:pic>
      <p:sp>
        <p:nvSpPr>
          <p:cNvPr id="7" name="TextBox 6"/>
          <p:cNvSpPr txBox="1"/>
          <p:nvPr/>
        </p:nvSpPr>
        <p:spPr>
          <a:xfrm>
            <a:off x="7040880" y="1920240"/>
            <a:ext cx="4389120" cy="3291840"/>
          </a:xfrm>
          <a:prstGeom prst="rect">
            <a:avLst/>
          </a:prstGeom>
          <a:noFill/>
        </p:spPr>
        <p:txBody>
          <a:bodyPr wrap="square" lIns="228600" tIns="228600" rIns="228600" bIns="228600">
            <a:spAutoFit/>
          </a:bodyPr>
          <a:lstStyle/>
          <a:p>
            <a:pPr algn="ctr">
              <a:defRPr sz="1600" b="1">
                <a:solidFill>
                  <a:srgbClr val="153448"/>
                </a:solidFill>
                <a:latin typeface="Calibri"/>
              </a:defRPr>
            </a:pPr>
            <a:r>
              <a:t>Cross-Modal Mismatch Detected</a:t>
            </a:r>
          </a:p>
          <a:p>
            <a:pPr>
              <a:defRPr sz="1100">
                <a:solidFill>
                  <a:srgbClr val="526574"/>
                </a:solidFill>
                <a:latin typeface="Calibri"/>
              </a:defRPr>
            </a:pPr>
            <a:r>
              <a:t>•  On-Screen Development (Video): Java recursive implementation (calls factorial recursively).</a:t>
            </a:r>
          </a:p>
          <a:p>
            <a:pPr>
              <a:defRPr sz="1100">
                <a:solidFill>
                  <a:srgbClr val="526574"/>
                </a:solidFill>
                <a:latin typeface="Calibri"/>
              </a:defRPr>
            </a:pPr>
            <a:r>
              <a:t>•  Submitted Artifact (.py File): Python iterative implementation using a while loop.</a:t>
            </a:r>
          </a:p>
          <a:p>
            <a:pPr>
              <a:defRPr sz="1100">
                <a:solidFill>
                  <a:srgbClr val="526574"/>
                </a:solidFill>
                <a:latin typeface="Calibri"/>
              </a:defRPr>
            </a:pPr>
            <a:r>
              <a:t>•  Autograder Blind Spot: Video proctor sees a student working; code autograder runs Python tests.</a:t>
            </a:r>
          </a:p>
          <a:p>
            <a:pPr>
              <a:defRPr sz="1100">
                <a:solidFill>
                  <a:srgbClr val="526574"/>
                </a:solidFill>
                <a:latin typeface="Calibri"/>
              </a:defRPr>
            </a:pPr>
            <a:r>
              <a:t>•  Exam-Flow Forensic Result: Synthesizes both streams, exposes language and paradigm clash, and flags FAIL (10/100).</a:t>
            </a:r>
          </a:p>
        </p:txBody>
      </p:sp>
      <p:sp>
        <p:nvSpPr>
          <p:cNvPr id="8" name="TextBox 7"/>
          <p:cNvSpPr txBox="1"/>
          <p:nvPr/>
        </p:nvSpPr>
        <p:spPr>
          <a:xfrm>
            <a:off x="731520" y="5394960"/>
            <a:ext cx="10698480" cy="548640"/>
          </a:xfrm>
          <a:prstGeom prst="rect">
            <a:avLst/>
          </a:prstGeom>
          <a:noFill/>
        </p:spPr>
        <p:txBody>
          <a:bodyPr wrap="square">
            <a:spAutoFit/>
          </a:bodyPr>
          <a:lstStyle/>
          <a:p>
            <a:pPr algn="ctr">
              <a:defRPr sz="1400" b="1">
                <a:solidFill>
                  <a:srgbClr val="991B1B"/>
                </a:solidFill>
                <a:latin typeface="Calibri"/>
              </a:defRPr>
            </a:pPr>
            <a:r>
              <a:t>AI Assessment Outcome: Paradigm / Language Mismatch | Verdict: FAIL (Score: 10/100)</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7F9FB"/>
        </a:solidFill>
        <a:effectLst/>
      </p:bgPr>
    </p:bg>
    <p:spTree>
      <p:nvGrpSpPr>
        <p:cNvPr id="1" name=""/>
        <p:cNvGrpSpPr/>
        <p:nvPr/>
      </p:nvGrpSpPr>
      <p:grpSpPr>
        <a:xfrm>
          <a:off x="0" y="0"/>
          <a:ext cx="0" cy="0"/>
          <a:chOff x="0" y="0"/>
          <a:chExt cx="0" cy="0"/>
        </a:xfrm>
      </p:grpSpPr>
      <p:sp>
        <p:nvSpPr>
          <p:cNvPr id="2" name="TextBox 1"/>
          <p:cNvSpPr txBox="1"/>
          <p:nvPr/>
        </p:nvSpPr>
        <p:spPr>
          <a:xfrm>
            <a:off x="603504" y="411480"/>
            <a:ext cx="10972800" cy="777240"/>
          </a:xfrm>
          <a:prstGeom prst="rect">
            <a:avLst/>
          </a:prstGeom>
          <a:noFill/>
        </p:spPr>
        <p:txBody>
          <a:bodyPr wrap="square" lIns="0" tIns="0" rIns="0" bIns="0">
            <a:spAutoFit/>
          </a:bodyPr>
          <a:lstStyle/>
          <a:p>
            <a:pPr>
              <a:defRPr sz="2800" b="1">
                <a:solidFill>
                  <a:srgbClr val="153448"/>
                </a:solidFill>
                <a:latin typeface="Calibri"/>
              </a:defRPr>
            </a:pPr>
            <a:r>
              <a:t>Trial 4: External Reference &amp; Gaze Correlation (T4)</a:t>
            </a:r>
          </a:p>
        </p:txBody>
      </p:sp>
      <p:sp>
        <p:nvSpPr>
          <p:cNvPr id="3" name="TextBox 2"/>
          <p:cNvSpPr txBox="1"/>
          <p:nvPr/>
        </p:nvSpPr>
        <p:spPr>
          <a:xfrm>
            <a:off x="603504" y="1170432"/>
            <a:ext cx="10972800" cy="502920"/>
          </a:xfrm>
          <a:prstGeom prst="rect">
            <a:avLst/>
          </a:prstGeom>
          <a:noFill/>
        </p:spPr>
        <p:txBody>
          <a:bodyPr wrap="square" lIns="0" tIns="0" rIns="0" bIns="0">
            <a:spAutoFit/>
          </a:bodyPr>
          <a:lstStyle/>
          <a:p>
            <a:pPr>
              <a:defRPr sz="1400">
                <a:solidFill>
                  <a:srgbClr val="526574"/>
                </a:solidFill>
                <a:latin typeface="Calibri"/>
              </a:defRPr>
            </a:pPr>
            <a:r>
              <a:t>Singly Linked List: Multi-agent audit flags AI assistance; gaze timing exposes oversight need.</a:t>
            </a:r>
          </a:p>
        </p:txBody>
      </p:sp>
      <p:sp>
        <p:nvSpPr>
          <p:cNvPr id="4" name="TextBox 3"/>
          <p:cNvSpPr txBox="1"/>
          <p:nvPr/>
        </p:nvSpPr>
        <p:spPr>
          <a:xfrm>
            <a:off x="603504" y="6355080"/>
            <a:ext cx="9601200" cy="320040"/>
          </a:xfrm>
          <a:prstGeom prst="rect">
            <a:avLst/>
          </a:prstGeom>
          <a:noFill/>
        </p:spPr>
        <p:txBody>
          <a:bodyPr wrap="square" lIns="0" tIns="0" rIns="0" bIns="0">
            <a:spAutoFit/>
          </a:bodyPr>
          <a:lstStyle/>
          <a:p>
            <a:pPr>
              <a:defRPr sz="1000">
                <a:solidFill>
                  <a:srgbClr val="526574"/>
                </a:solidFill>
                <a:latin typeface="Calibri"/>
              </a:defRPr>
            </a:pPr>
            <a:r>
              <a:t>Exam-Flow  |  IEEE TOK-CSES 2026</a:t>
            </a:r>
          </a:p>
        </p:txBody>
      </p:sp>
      <p:sp>
        <p:nvSpPr>
          <p:cNvPr id="5" name="TextBox 4"/>
          <p:cNvSpPr txBox="1"/>
          <p:nvPr/>
        </p:nvSpPr>
        <p:spPr>
          <a:xfrm>
            <a:off x="10789920" y="6355080"/>
            <a:ext cx="777240" cy="320040"/>
          </a:xfrm>
          <a:prstGeom prst="rect">
            <a:avLst/>
          </a:prstGeom>
          <a:noFill/>
        </p:spPr>
        <p:txBody>
          <a:bodyPr wrap="none" lIns="0" tIns="0" rIns="0" bIns="0">
            <a:spAutoFit/>
          </a:bodyPr>
          <a:lstStyle/>
          <a:p>
            <a:pPr algn="r">
              <a:defRPr sz="1000">
                <a:solidFill>
                  <a:srgbClr val="526574"/>
                </a:solidFill>
                <a:latin typeface="Calibri"/>
              </a:defRPr>
            </a:pPr>
            <a:r>
              <a:t>14</a:t>
            </a:r>
          </a:p>
        </p:txBody>
      </p:sp>
      <p:pic>
        <p:nvPicPr>
          <p:cNvPr id="6" name="Picture 5" descr="image.png"/>
          <p:cNvPicPr>
            <a:picLocks noChangeAspect="1"/>
          </p:cNvPicPr>
          <p:nvPr/>
        </p:nvPicPr>
        <p:blipFill>
          <a:blip r:embed="rId3"/>
          <a:stretch>
            <a:fillRect/>
          </a:stretch>
        </p:blipFill>
        <p:spPr>
          <a:xfrm>
            <a:off x="731520" y="1920240"/>
            <a:ext cx="5852160" cy="3291840"/>
          </a:xfrm>
          <a:prstGeom prst="rect">
            <a:avLst/>
          </a:prstGeom>
        </p:spPr>
      </p:pic>
      <p:sp>
        <p:nvSpPr>
          <p:cNvPr id="7" name="TextBox 6"/>
          <p:cNvSpPr txBox="1"/>
          <p:nvPr/>
        </p:nvSpPr>
        <p:spPr>
          <a:xfrm>
            <a:off x="6858000" y="1920240"/>
            <a:ext cx="4572000" cy="3291840"/>
          </a:xfrm>
          <a:prstGeom prst="rect">
            <a:avLst/>
          </a:prstGeom>
          <a:noFill/>
        </p:spPr>
        <p:txBody>
          <a:bodyPr wrap="square" lIns="228600" tIns="228600" rIns="228600" bIns="228600">
            <a:spAutoFit/>
          </a:bodyPr>
          <a:lstStyle/>
          <a:p>
            <a:pPr algn="ctr">
              <a:defRPr sz="1600" b="1">
                <a:solidFill>
                  <a:srgbClr val="153448"/>
                </a:solidFill>
                <a:latin typeface="Calibri"/>
              </a:defRPr>
            </a:pPr>
            <a:r>
              <a:t>Forensic Findings in T4 Report</a:t>
            </a:r>
          </a:p>
          <a:p>
            <a:pPr>
              <a:defRPr sz="1100">
                <a:solidFill>
                  <a:srgbClr val="526574"/>
                </a:solidFill>
                <a:latin typeface="Calibri"/>
              </a:defRPr>
            </a:pPr>
            <a:r>
              <a:t>•  Experiment Purpose: Simulates AI-assisted code generation (Qodo extension) combined with external reference notes.</a:t>
            </a:r>
          </a:p>
          <a:p>
            <a:pPr>
              <a:defRPr sz="1100">
                <a:solidFill>
                  <a:srgbClr val="526574"/>
                </a:solidFill>
                <a:latin typeface="Calibri"/>
              </a:defRPr>
            </a:pPr>
            <a:r>
              <a:t>•  Primary Code Breach: Sudden Logic events at 00:07, 00:28, 00:35, 00:38 (instant data structure insertions).</a:t>
            </a:r>
          </a:p>
          <a:p>
            <a:pPr>
              <a:defRPr sz="1100">
                <a:solidFill>
                  <a:srgbClr val="526574"/>
                </a:solidFill>
                <a:latin typeface="Calibri"/>
              </a:defRPr>
            </a:pPr>
            <a:r>
              <a:t>•  Visual Proctor Limitation: Model reported “face not visible” at 03:24, but video shows candidate face clearly visible (gaze averted to notes, not occluded).</a:t>
            </a:r>
          </a:p>
          <a:p>
            <a:pPr>
              <a:defRPr sz="1100">
                <a:solidFill>
                  <a:srgbClr val="526574"/>
                </a:solidFill>
                <a:latin typeface="Calibri"/>
              </a:defRPr>
            </a:pPr>
            <a:r>
              <a:t>•  Audit Escalation: Status assigned INVESTIGATION; grade capped at 20/100 (raw technical score: 85–95/100).</a:t>
            </a:r>
          </a:p>
        </p:txBody>
      </p:sp>
      <p:sp>
        <p:nvSpPr>
          <p:cNvPr id="8" name="TextBox 7"/>
          <p:cNvSpPr txBox="1"/>
          <p:nvPr/>
        </p:nvSpPr>
        <p:spPr>
          <a:xfrm>
            <a:off x="731520" y="5394960"/>
            <a:ext cx="10698480" cy="548640"/>
          </a:xfrm>
          <a:prstGeom prst="rect">
            <a:avLst/>
          </a:prstGeom>
          <a:noFill/>
        </p:spPr>
        <p:txBody>
          <a:bodyPr wrap="square">
            <a:spAutoFit/>
          </a:bodyPr>
          <a:lstStyle/>
          <a:p>
            <a:pPr algn="ctr">
              <a:defRPr sz="1400" b="1">
                <a:solidFill>
                  <a:srgbClr val="B45309"/>
                </a:solidFill>
                <a:latin typeface="Calibri"/>
              </a:defRPr>
            </a:pPr>
            <a:r>
              <a:t>Audit Status: INVESTIGATION | Grade Capped at 20/100 | Visual/Temporal Ambiguity Needs Human Review</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7F9FB"/>
        </a:solidFill>
        <a:effectLst/>
      </p:bgPr>
    </p:bg>
    <p:spTree>
      <p:nvGrpSpPr>
        <p:cNvPr id="1" name=""/>
        <p:cNvGrpSpPr/>
        <p:nvPr/>
      </p:nvGrpSpPr>
      <p:grpSpPr>
        <a:xfrm>
          <a:off x="0" y="0"/>
          <a:ext cx="0" cy="0"/>
          <a:chOff x="0" y="0"/>
          <a:chExt cx="0" cy="0"/>
        </a:xfrm>
      </p:grpSpPr>
      <p:sp>
        <p:nvSpPr>
          <p:cNvPr id="2" name="TextBox 1"/>
          <p:cNvSpPr txBox="1"/>
          <p:nvPr/>
        </p:nvSpPr>
        <p:spPr>
          <a:xfrm>
            <a:off x="603504" y="411480"/>
            <a:ext cx="10972800" cy="777240"/>
          </a:xfrm>
          <a:prstGeom prst="rect">
            <a:avLst/>
          </a:prstGeom>
          <a:noFill/>
        </p:spPr>
        <p:txBody>
          <a:bodyPr wrap="square" lIns="0" tIns="0" rIns="0" bIns="0">
            <a:spAutoFit/>
          </a:bodyPr>
          <a:lstStyle/>
          <a:p>
            <a:pPr>
              <a:defRPr sz="2800" b="1">
                <a:solidFill>
                  <a:srgbClr val="153448"/>
                </a:solidFill>
                <a:latin typeface="Calibri"/>
              </a:defRPr>
            </a:pPr>
            <a:r>
              <a:t>Why Humans Must Stay in the Loop</a:t>
            </a:r>
          </a:p>
        </p:txBody>
      </p:sp>
      <p:sp>
        <p:nvSpPr>
          <p:cNvPr id="3" name="TextBox 2"/>
          <p:cNvSpPr txBox="1"/>
          <p:nvPr/>
        </p:nvSpPr>
        <p:spPr>
          <a:xfrm>
            <a:off x="603504" y="1170432"/>
            <a:ext cx="10972800" cy="502920"/>
          </a:xfrm>
          <a:prstGeom prst="rect">
            <a:avLst/>
          </a:prstGeom>
          <a:noFill/>
        </p:spPr>
        <p:txBody>
          <a:bodyPr wrap="square" lIns="0" tIns="0" rIns="0" bIns="0">
            <a:spAutoFit/>
          </a:bodyPr>
          <a:lstStyle/>
          <a:p>
            <a:pPr>
              <a:defRPr sz="1400">
                <a:solidFill>
                  <a:srgbClr val="526574"/>
                </a:solidFill>
                <a:latin typeface="Calibri"/>
              </a:defRPr>
            </a:pPr>
            <a:r>
              <a:t>AI is an investigator, not a judge.</a:t>
            </a:r>
          </a:p>
        </p:txBody>
      </p:sp>
      <p:sp>
        <p:nvSpPr>
          <p:cNvPr id="4" name="TextBox 3"/>
          <p:cNvSpPr txBox="1"/>
          <p:nvPr/>
        </p:nvSpPr>
        <p:spPr>
          <a:xfrm>
            <a:off x="603504" y="6355080"/>
            <a:ext cx="9601200" cy="320040"/>
          </a:xfrm>
          <a:prstGeom prst="rect">
            <a:avLst/>
          </a:prstGeom>
          <a:noFill/>
        </p:spPr>
        <p:txBody>
          <a:bodyPr wrap="square" lIns="0" tIns="0" rIns="0" bIns="0">
            <a:spAutoFit/>
          </a:bodyPr>
          <a:lstStyle/>
          <a:p>
            <a:pPr>
              <a:defRPr sz="1000">
                <a:solidFill>
                  <a:srgbClr val="526574"/>
                </a:solidFill>
                <a:latin typeface="Calibri"/>
              </a:defRPr>
            </a:pPr>
            <a:r>
              <a:t>Exam-Flow  |  IEEE TOK-CSES 2026</a:t>
            </a:r>
          </a:p>
        </p:txBody>
      </p:sp>
      <p:sp>
        <p:nvSpPr>
          <p:cNvPr id="5" name="TextBox 4"/>
          <p:cNvSpPr txBox="1"/>
          <p:nvPr/>
        </p:nvSpPr>
        <p:spPr>
          <a:xfrm>
            <a:off x="10789920" y="6355080"/>
            <a:ext cx="777240" cy="320040"/>
          </a:xfrm>
          <a:prstGeom prst="rect">
            <a:avLst/>
          </a:prstGeom>
          <a:noFill/>
        </p:spPr>
        <p:txBody>
          <a:bodyPr wrap="none" lIns="0" tIns="0" rIns="0" bIns="0">
            <a:spAutoFit/>
          </a:bodyPr>
          <a:lstStyle/>
          <a:p>
            <a:pPr algn="r">
              <a:defRPr sz="1000">
                <a:solidFill>
                  <a:srgbClr val="526574"/>
                </a:solidFill>
                <a:latin typeface="Calibri"/>
              </a:defRPr>
            </a:pPr>
            <a:r>
              <a:t>15</a:t>
            </a:r>
          </a:p>
        </p:txBody>
      </p:sp>
      <p:sp>
        <p:nvSpPr>
          <p:cNvPr id="6" name="TextBox 5"/>
          <p:cNvSpPr txBox="1"/>
          <p:nvPr/>
        </p:nvSpPr>
        <p:spPr>
          <a:xfrm>
            <a:off x="731520" y="1874519"/>
            <a:ext cx="3328416" cy="3566160"/>
          </a:xfrm>
          <a:prstGeom prst="rect">
            <a:avLst/>
          </a:prstGeom>
          <a:noFill/>
        </p:spPr>
        <p:txBody>
          <a:bodyPr wrap="square" lIns="228600" tIns="228600" rIns="228600">
            <a:spAutoFit/>
          </a:bodyPr>
          <a:lstStyle/>
          <a:p>
            <a:pPr algn="ctr">
              <a:defRPr sz="1600" b="1">
                <a:solidFill>
                  <a:srgbClr val="153448"/>
                </a:solidFill>
                <a:latin typeface="Calibri"/>
              </a:defRPr>
            </a:pPr>
            <a:r>
              <a:t>1. AI Hallucinations</a:t>
            </a:r>
          </a:p>
          <a:p>
            <a:pPr>
              <a:defRPr sz="1200">
                <a:solidFill>
                  <a:srgbClr val="526574"/>
                </a:solidFill>
                <a:latin typeface="Calibri"/>
              </a:defRPr>
            </a:pPr>
            <a:r>
              <a:t>The Problem: The AI mistakes a student glancing at their keyboard as "face not visible."</a:t>
            </a:r>
          </a:p>
          <a:p>
            <a:pPr>
              <a:defRPr sz="1200">
                <a:solidFill>
                  <a:srgbClr val="526574"/>
                </a:solidFill>
                <a:latin typeface="Calibri"/>
              </a:defRPr>
            </a:pPr>
            <a:r>
              <a:t>The Risk: False accusations destroy student trust and violate due process.</a:t>
            </a:r>
          </a:p>
        </p:txBody>
      </p:sp>
      <p:sp>
        <p:nvSpPr>
          <p:cNvPr id="7" name="TextBox 6"/>
          <p:cNvSpPr txBox="1"/>
          <p:nvPr/>
        </p:nvSpPr>
        <p:spPr>
          <a:xfrm>
            <a:off x="4407408" y="1874519"/>
            <a:ext cx="3328416" cy="3566160"/>
          </a:xfrm>
          <a:prstGeom prst="rect">
            <a:avLst/>
          </a:prstGeom>
          <a:noFill/>
        </p:spPr>
        <p:txBody>
          <a:bodyPr wrap="square" lIns="228600" tIns="228600" rIns="228600">
            <a:spAutoFit/>
          </a:bodyPr>
          <a:lstStyle/>
          <a:p>
            <a:pPr algn="ctr">
              <a:defRPr sz="1600" b="1">
                <a:solidFill>
                  <a:srgbClr val="153448"/>
                </a:solidFill>
                <a:latin typeface="Calibri"/>
              </a:defRPr>
            </a:pPr>
            <a:r>
              <a:t>2. Timing Mismatches</a:t>
            </a:r>
          </a:p>
          <a:p>
            <a:pPr>
              <a:defRPr sz="1200">
                <a:solidFill>
                  <a:srgbClr val="526574"/>
                </a:solidFill>
                <a:latin typeface="Calibri"/>
              </a:defRPr>
            </a:pPr>
            <a:r>
              <a:t>The Problem: Video timestamps and code timestamps do not perfectly align without a common clock.</a:t>
            </a:r>
          </a:p>
          <a:p>
            <a:pPr>
              <a:defRPr sz="1200">
                <a:solidFill>
                  <a:srgbClr val="526574"/>
                </a:solidFill>
                <a:latin typeface="Calibri"/>
              </a:defRPr>
            </a:pPr>
            <a:r>
              <a:t>The Risk: The system might flag two unrelated events (e.g., a glance at 00:20 and code at 00:41) as a coordinated cheat.</a:t>
            </a:r>
          </a:p>
        </p:txBody>
      </p:sp>
      <p:sp>
        <p:nvSpPr>
          <p:cNvPr id="8" name="TextBox 7"/>
          <p:cNvSpPr txBox="1"/>
          <p:nvPr/>
        </p:nvSpPr>
        <p:spPr>
          <a:xfrm>
            <a:off x="8083296" y="1874519"/>
            <a:ext cx="3328416" cy="3566160"/>
          </a:xfrm>
          <a:prstGeom prst="rect">
            <a:avLst/>
          </a:prstGeom>
          <a:noFill/>
        </p:spPr>
        <p:txBody>
          <a:bodyPr wrap="square" lIns="228600" tIns="228600" rIns="228600">
            <a:spAutoFit/>
          </a:bodyPr>
          <a:lstStyle/>
          <a:p>
            <a:pPr algn="ctr">
              <a:defRPr sz="1600" b="1">
                <a:solidFill>
                  <a:srgbClr val="153448"/>
                </a:solidFill>
                <a:latin typeface="Calibri"/>
              </a:defRPr>
            </a:pPr>
            <a:r>
              <a:t>3. The "Auto-Fail" Trap</a:t>
            </a:r>
          </a:p>
          <a:p>
            <a:pPr>
              <a:defRPr sz="1200">
                <a:solidFill>
                  <a:srgbClr val="526574"/>
                </a:solidFill>
                <a:latin typeface="Calibri"/>
              </a:defRPr>
            </a:pPr>
            <a:r>
              <a:t>The Problem: The prototype automatically capped grades at 20/100 upon any audit flag.</a:t>
            </a:r>
          </a:p>
          <a:p>
            <a:pPr>
              <a:defRPr sz="1200">
                <a:solidFill>
                  <a:srgbClr val="526574"/>
                </a:solidFill>
                <a:latin typeface="Calibri"/>
              </a:defRPr>
            </a:pPr>
            <a:r>
              <a:t>The Fix: AI should never punish a student. It must only flag the evidence for a human instructor to review.</a:t>
            </a:r>
          </a:p>
        </p:txBody>
      </p:sp>
      <p:sp>
        <p:nvSpPr>
          <p:cNvPr id="9" name="TextBox 8"/>
          <p:cNvSpPr txBox="1"/>
          <p:nvPr/>
        </p:nvSpPr>
        <p:spPr>
          <a:xfrm>
            <a:off x="731520" y="5623560"/>
            <a:ext cx="10725912" cy="411480"/>
          </a:xfrm>
          <a:prstGeom prst="rect">
            <a:avLst/>
          </a:prstGeom>
          <a:noFill/>
        </p:spPr>
        <p:txBody>
          <a:bodyPr wrap="square">
            <a:spAutoFit/>
          </a:bodyPr>
          <a:lstStyle/>
          <a:p>
            <a:pPr algn="ctr">
              <a:defRPr sz="1400" b="1">
                <a:solidFill>
                  <a:srgbClr val="153448"/>
                </a:solidFill>
                <a:latin typeface="Calibri"/>
              </a:defRPr>
            </a:pPr>
            <a:r>
              <a:t>Takeaway: AI generates the evidence. Human instructors make the final decision.</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7F9FB"/>
        </a:solidFill>
        <a:effectLst/>
      </p:bgPr>
    </p:bg>
    <p:spTree>
      <p:nvGrpSpPr>
        <p:cNvPr id="1" name=""/>
        <p:cNvGrpSpPr/>
        <p:nvPr/>
      </p:nvGrpSpPr>
      <p:grpSpPr>
        <a:xfrm>
          <a:off x="0" y="0"/>
          <a:ext cx="0" cy="0"/>
          <a:chOff x="0" y="0"/>
          <a:chExt cx="0" cy="0"/>
        </a:xfrm>
      </p:grpSpPr>
      <p:sp>
        <p:nvSpPr>
          <p:cNvPr id="2" name="TextBox 1"/>
          <p:cNvSpPr txBox="1"/>
          <p:nvPr/>
        </p:nvSpPr>
        <p:spPr>
          <a:xfrm>
            <a:off x="603504" y="411480"/>
            <a:ext cx="10972800" cy="777240"/>
          </a:xfrm>
          <a:prstGeom prst="rect">
            <a:avLst/>
          </a:prstGeom>
          <a:noFill/>
        </p:spPr>
        <p:txBody>
          <a:bodyPr wrap="square" lIns="0" tIns="0" rIns="0" bIns="0">
            <a:spAutoFit/>
          </a:bodyPr>
          <a:lstStyle/>
          <a:p>
            <a:pPr>
              <a:defRPr sz="2800" b="1">
                <a:solidFill>
                  <a:srgbClr val="153448"/>
                </a:solidFill>
                <a:latin typeface="Calibri"/>
              </a:defRPr>
            </a:pPr>
            <a:r>
              <a:t>Scope &amp; Honest Limitations</a:t>
            </a:r>
          </a:p>
        </p:txBody>
      </p:sp>
      <p:sp>
        <p:nvSpPr>
          <p:cNvPr id="3" name="TextBox 2"/>
          <p:cNvSpPr txBox="1"/>
          <p:nvPr/>
        </p:nvSpPr>
        <p:spPr>
          <a:xfrm>
            <a:off x="603504" y="1170432"/>
            <a:ext cx="10972800" cy="502920"/>
          </a:xfrm>
          <a:prstGeom prst="rect">
            <a:avLst/>
          </a:prstGeom>
          <a:noFill/>
        </p:spPr>
        <p:txBody>
          <a:bodyPr wrap="square" lIns="0" tIns="0" rIns="0" bIns="0">
            <a:spAutoFit/>
          </a:bodyPr>
          <a:lstStyle/>
          <a:p>
            <a:pPr>
              <a:defRPr sz="1300">
                <a:solidFill>
                  <a:srgbClr val="526574"/>
                </a:solidFill>
                <a:latin typeface="Calibri"/>
              </a:defRPr>
            </a:pPr>
            <a:r>
              <a:t>A proof-of-concept demonstrating architectural feasibility, not statistical superiority.</a:t>
            </a:r>
          </a:p>
        </p:txBody>
      </p:sp>
      <p:sp>
        <p:nvSpPr>
          <p:cNvPr id="4" name="TextBox 3"/>
          <p:cNvSpPr txBox="1"/>
          <p:nvPr/>
        </p:nvSpPr>
        <p:spPr>
          <a:xfrm>
            <a:off x="603504" y="6355080"/>
            <a:ext cx="9601200" cy="320040"/>
          </a:xfrm>
          <a:prstGeom prst="rect">
            <a:avLst/>
          </a:prstGeom>
          <a:noFill/>
        </p:spPr>
        <p:txBody>
          <a:bodyPr wrap="square" lIns="0" tIns="0" rIns="0" bIns="0">
            <a:spAutoFit/>
          </a:bodyPr>
          <a:lstStyle/>
          <a:p>
            <a:pPr>
              <a:defRPr sz="1000">
                <a:solidFill>
                  <a:srgbClr val="526574"/>
                </a:solidFill>
                <a:latin typeface="Calibri"/>
              </a:defRPr>
            </a:pPr>
            <a:r>
              <a:t>Exam-Flow  |  IEEE TOK-CSES 2026</a:t>
            </a:r>
          </a:p>
        </p:txBody>
      </p:sp>
      <p:sp>
        <p:nvSpPr>
          <p:cNvPr id="5" name="TextBox 4"/>
          <p:cNvSpPr txBox="1"/>
          <p:nvPr/>
        </p:nvSpPr>
        <p:spPr>
          <a:xfrm>
            <a:off x="10789920" y="6355080"/>
            <a:ext cx="777240" cy="320040"/>
          </a:xfrm>
          <a:prstGeom prst="rect">
            <a:avLst/>
          </a:prstGeom>
          <a:noFill/>
        </p:spPr>
        <p:txBody>
          <a:bodyPr wrap="none" lIns="0" tIns="0" rIns="0" bIns="0">
            <a:spAutoFit/>
          </a:bodyPr>
          <a:lstStyle/>
          <a:p>
            <a:pPr algn="r">
              <a:defRPr sz="1000">
                <a:solidFill>
                  <a:srgbClr val="526574"/>
                </a:solidFill>
                <a:latin typeface="Calibri"/>
              </a:defRPr>
            </a:pPr>
            <a:r>
              <a:t>16</a:t>
            </a:r>
          </a:p>
        </p:txBody>
      </p:sp>
      <p:sp>
        <p:nvSpPr>
          <p:cNvPr id="6" name="TextBox 5"/>
          <p:cNvSpPr txBox="1"/>
          <p:nvPr/>
        </p:nvSpPr>
        <p:spPr>
          <a:xfrm>
            <a:off x="731520" y="1874519"/>
            <a:ext cx="5166360" cy="3429000"/>
          </a:xfrm>
          <a:prstGeom prst="rect">
            <a:avLst/>
          </a:prstGeom>
          <a:noFill/>
        </p:spPr>
        <p:txBody>
          <a:bodyPr wrap="square" lIns="228600" tIns="182880" rIns="228600">
            <a:spAutoFit/>
          </a:bodyPr>
          <a:lstStyle/>
          <a:p>
            <a:pPr algn="ctr">
              <a:defRPr sz="1600" b="1">
                <a:solidFill>
                  <a:srgbClr val="153448"/>
                </a:solidFill>
                <a:latin typeface="Calibri"/>
              </a:defRPr>
            </a:pPr>
            <a:r>
              <a:t>What This Study Demonstrated</a:t>
            </a:r>
          </a:p>
          <a:p>
            <a:pPr>
              <a:defRPr sz="1150">
                <a:solidFill>
                  <a:srgbClr val="526574"/>
                </a:solidFill>
                <a:latin typeface="Calibri"/>
              </a:defRPr>
            </a:pPr>
            <a:r>
              <a:t>✅ End-to-End Pipeline: Successfully linked webcam video, screen diffs, and final code into one workflow.</a:t>
            </a:r>
          </a:p>
          <a:p>
            <a:pPr>
              <a:defRPr sz="1150">
                <a:solidFill>
                  <a:srgbClr val="526574"/>
                </a:solidFill>
                <a:latin typeface="Calibri"/>
              </a:defRPr>
            </a:pPr>
            <a:r>
              <a:t>✅ Instant Code Detection: Caught multi-line algorithm insertions in under 3 seconds (Sudden Logic).</a:t>
            </a:r>
          </a:p>
          <a:p>
            <a:pPr>
              <a:defRPr sz="1150">
                <a:solidFill>
                  <a:srgbClr val="526574"/>
                </a:solidFill>
                <a:latin typeface="Calibri"/>
              </a:defRPr>
            </a:pPr>
            <a:r>
              <a:t>✅ Cross-Modal Catches: Identified when the video language (Java) did not match the submitted file (Python).</a:t>
            </a:r>
          </a:p>
          <a:p>
            <a:pPr>
              <a:defRPr sz="1150">
                <a:solidFill>
                  <a:srgbClr val="526574"/>
                </a:solidFill>
                <a:latin typeface="Calibri"/>
              </a:defRPr>
            </a:pPr>
            <a:r>
              <a:t>✅ Fast Evidence Retrieval: Proved the caching layer delivers reports to instructors instantly.</a:t>
            </a:r>
          </a:p>
        </p:txBody>
      </p:sp>
      <p:sp>
        <p:nvSpPr>
          <p:cNvPr id="7" name="TextBox 6"/>
          <p:cNvSpPr txBox="1"/>
          <p:nvPr/>
        </p:nvSpPr>
        <p:spPr>
          <a:xfrm>
            <a:off x="6291072" y="1874519"/>
            <a:ext cx="5166360" cy="3429000"/>
          </a:xfrm>
          <a:prstGeom prst="rect">
            <a:avLst/>
          </a:prstGeom>
          <a:noFill/>
        </p:spPr>
        <p:txBody>
          <a:bodyPr wrap="square" lIns="228600" tIns="182880" rIns="228600">
            <a:spAutoFit/>
          </a:bodyPr>
          <a:lstStyle/>
          <a:p>
            <a:pPr algn="ctr">
              <a:defRPr sz="1600" b="1">
                <a:solidFill>
                  <a:srgbClr val="153448"/>
                </a:solidFill>
                <a:latin typeface="Calibri"/>
              </a:defRPr>
            </a:pPr>
            <a:r>
              <a:t>What This Study Did NOT Claim</a:t>
            </a:r>
          </a:p>
          <a:p>
            <a:pPr>
              <a:defRPr sz="1150">
                <a:solidFill>
                  <a:srgbClr val="526574"/>
                </a:solidFill>
                <a:latin typeface="Calibri"/>
              </a:defRPr>
            </a:pPr>
            <a:r>
              <a:t>❌ No Large-Scale Cohort: Tested on 4 developer-recorded scenarios, not a university-wide student population.</a:t>
            </a:r>
          </a:p>
          <a:p>
            <a:pPr>
              <a:defRPr sz="1150">
                <a:solidFill>
                  <a:srgbClr val="526574"/>
                </a:solidFill>
                <a:latin typeface="Calibri"/>
              </a:defRPr>
            </a:pPr>
            <a:r>
              <a:t>❌ No Statistical F1 Scores: We make no claims of precision or recall on a population level.</a:t>
            </a:r>
          </a:p>
          <a:p>
            <a:pPr>
              <a:defRPr sz="1150">
                <a:solidFill>
                  <a:srgbClr val="526574"/>
                </a:solidFill>
                <a:latin typeface="Calibri"/>
              </a:defRPr>
            </a:pPr>
            <a:r>
              <a:t>❌ No Hardcoded Magic: The 3-second "Sudden Logic" rule is an empirical prompt, not a proven universal threshold.</a:t>
            </a:r>
          </a:p>
          <a:p>
            <a:pPr>
              <a:defRPr sz="1150">
                <a:solidFill>
                  <a:srgbClr val="526574"/>
                </a:solidFill>
                <a:latin typeface="Calibri"/>
              </a:defRPr>
            </a:pPr>
            <a:r>
              <a:t>❌ No Ignored Privacy: We acknowledge that uploading video to external LLM APIs requires strict institutional compliance.</a:t>
            </a:r>
          </a:p>
        </p:txBody>
      </p:sp>
      <p:sp>
        <p:nvSpPr>
          <p:cNvPr id="8" name="TextBox 7"/>
          <p:cNvSpPr txBox="1"/>
          <p:nvPr/>
        </p:nvSpPr>
        <p:spPr>
          <a:xfrm>
            <a:off x="731520" y="5440680"/>
            <a:ext cx="10725912" cy="548640"/>
          </a:xfrm>
          <a:prstGeom prst="rect">
            <a:avLst/>
          </a:prstGeom>
          <a:noFill/>
        </p:spPr>
        <p:txBody>
          <a:bodyPr wrap="square">
            <a:spAutoFit/>
          </a:bodyPr>
          <a:lstStyle/>
          <a:p>
            <a:pPr algn="ctr">
              <a:defRPr sz="1200" b="1">
                <a:solidFill>
                  <a:srgbClr val="B45309"/>
                </a:solidFill>
                <a:latin typeface="Calibri"/>
              </a:defRPr>
            </a:pPr>
            <a:r>
              <a:t>The Bottom Line: This framework proves the architecture works. Moving to real-world deployment requires larger datasets and human-in-the-loop policy.</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7F9FB"/>
        </a:solidFill>
        <a:effectLst/>
      </p:bgPr>
    </p:bg>
    <p:spTree>
      <p:nvGrpSpPr>
        <p:cNvPr id="1" name=""/>
        <p:cNvGrpSpPr/>
        <p:nvPr/>
      </p:nvGrpSpPr>
      <p:grpSpPr>
        <a:xfrm>
          <a:off x="0" y="0"/>
          <a:ext cx="0" cy="0"/>
          <a:chOff x="0" y="0"/>
          <a:chExt cx="0" cy="0"/>
        </a:xfrm>
      </p:grpSpPr>
      <p:sp>
        <p:nvSpPr>
          <p:cNvPr id="2" name="TextBox 1"/>
          <p:cNvSpPr txBox="1"/>
          <p:nvPr/>
        </p:nvSpPr>
        <p:spPr>
          <a:xfrm>
            <a:off x="603504" y="411480"/>
            <a:ext cx="10972800" cy="777240"/>
          </a:xfrm>
          <a:prstGeom prst="rect">
            <a:avLst/>
          </a:prstGeom>
          <a:noFill/>
        </p:spPr>
        <p:txBody>
          <a:bodyPr wrap="square" lIns="0" tIns="0" rIns="0" bIns="0">
            <a:spAutoFit/>
          </a:bodyPr>
          <a:lstStyle/>
          <a:p>
            <a:pPr>
              <a:defRPr sz="2800" b="1">
                <a:solidFill>
                  <a:srgbClr val="153448"/>
                </a:solidFill>
                <a:latin typeface="Calibri"/>
              </a:defRPr>
            </a:pPr>
            <a:r>
              <a:t>Summary &amp; Future Directions</a:t>
            </a:r>
          </a:p>
        </p:txBody>
      </p:sp>
      <p:sp>
        <p:nvSpPr>
          <p:cNvPr id="3" name="TextBox 2"/>
          <p:cNvSpPr txBox="1"/>
          <p:nvPr/>
        </p:nvSpPr>
        <p:spPr>
          <a:xfrm>
            <a:off x="603504" y="1170432"/>
            <a:ext cx="10972800" cy="502920"/>
          </a:xfrm>
          <a:prstGeom prst="rect">
            <a:avLst/>
          </a:prstGeom>
          <a:noFill/>
        </p:spPr>
        <p:txBody>
          <a:bodyPr wrap="square" lIns="0" tIns="0" rIns="0" bIns="0">
            <a:spAutoFit/>
          </a:bodyPr>
          <a:lstStyle/>
          <a:p>
            <a:pPr>
              <a:defRPr sz="1300">
                <a:solidFill>
                  <a:srgbClr val="526574"/>
                </a:solidFill>
                <a:latin typeface="Calibri"/>
              </a:defRPr>
            </a:pPr>
            <a:r>
              <a:t>Bridging behavioral evidence and code progression for transparent assessment.</a:t>
            </a:r>
          </a:p>
        </p:txBody>
      </p:sp>
      <p:sp>
        <p:nvSpPr>
          <p:cNvPr id="4" name="TextBox 3"/>
          <p:cNvSpPr txBox="1"/>
          <p:nvPr/>
        </p:nvSpPr>
        <p:spPr>
          <a:xfrm>
            <a:off x="603504" y="6355080"/>
            <a:ext cx="9601200" cy="320040"/>
          </a:xfrm>
          <a:prstGeom prst="rect">
            <a:avLst/>
          </a:prstGeom>
          <a:noFill/>
        </p:spPr>
        <p:txBody>
          <a:bodyPr wrap="square" lIns="0" tIns="0" rIns="0" bIns="0">
            <a:spAutoFit/>
          </a:bodyPr>
          <a:lstStyle/>
          <a:p>
            <a:pPr>
              <a:defRPr sz="1000">
                <a:solidFill>
                  <a:srgbClr val="526574"/>
                </a:solidFill>
                <a:latin typeface="Calibri"/>
              </a:defRPr>
            </a:pPr>
            <a:r>
              <a:t>Exam-Flow  |  IEEE TOK-CSES 2026</a:t>
            </a:r>
          </a:p>
        </p:txBody>
      </p:sp>
      <p:sp>
        <p:nvSpPr>
          <p:cNvPr id="5" name="TextBox 4"/>
          <p:cNvSpPr txBox="1"/>
          <p:nvPr/>
        </p:nvSpPr>
        <p:spPr>
          <a:xfrm>
            <a:off x="10789920" y="6355080"/>
            <a:ext cx="777240" cy="320040"/>
          </a:xfrm>
          <a:prstGeom prst="rect">
            <a:avLst/>
          </a:prstGeom>
          <a:noFill/>
        </p:spPr>
        <p:txBody>
          <a:bodyPr wrap="none" lIns="0" tIns="0" rIns="0" bIns="0">
            <a:spAutoFit/>
          </a:bodyPr>
          <a:lstStyle/>
          <a:p>
            <a:pPr algn="r">
              <a:defRPr sz="1000">
                <a:solidFill>
                  <a:srgbClr val="526574"/>
                </a:solidFill>
                <a:latin typeface="Calibri"/>
              </a:defRPr>
            </a:pPr>
            <a:r>
              <a:t>17</a:t>
            </a:r>
          </a:p>
        </p:txBody>
      </p:sp>
      <p:sp>
        <p:nvSpPr>
          <p:cNvPr id="6" name="TextBox 5"/>
          <p:cNvSpPr txBox="1"/>
          <p:nvPr/>
        </p:nvSpPr>
        <p:spPr>
          <a:xfrm>
            <a:off x="731520" y="1874519"/>
            <a:ext cx="5166360" cy="3108960"/>
          </a:xfrm>
          <a:prstGeom prst="rect">
            <a:avLst/>
          </a:prstGeom>
          <a:noFill/>
        </p:spPr>
        <p:txBody>
          <a:bodyPr wrap="square" lIns="228600" tIns="182880" rIns="228600">
            <a:spAutoFit/>
          </a:bodyPr>
          <a:lstStyle/>
          <a:p>
            <a:pPr algn="ctr">
              <a:defRPr sz="1600" b="1">
                <a:solidFill>
                  <a:srgbClr val="153448"/>
                </a:solidFill>
                <a:latin typeface="Calibri"/>
              </a:defRPr>
            </a:pPr>
            <a:r>
              <a:t>Core Contributions</a:t>
            </a:r>
          </a:p>
          <a:p>
            <a:pPr>
              <a:defRPr sz="1200" b="1">
                <a:solidFill>
                  <a:srgbClr val="087F83"/>
                </a:solidFill>
                <a:latin typeface="Calibri"/>
              </a:defRPr>
            </a:pPr>
            <a:r>
              <a:t>Bridged the Gap: Combined webcam behavior with process-level code tracking to eliminate blind spots.</a:t>
            </a:r>
          </a:p>
          <a:p>
            <a:pPr>
              <a:defRPr sz="1200" b="1">
                <a:solidFill>
                  <a:srgbClr val="087F83"/>
                </a:solidFill>
                <a:latin typeface="Calibri"/>
              </a:defRPr>
            </a:pPr>
            <a:r>
              <a:t>Explainable Evidence: Replaced opaque "cheating scores" with timestamped, human-readable audit trails.</a:t>
            </a:r>
          </a:p>
          <a:p>
            <a:pPr>
              <a:defRPr sz="1200" b="1">
                <a:solidFill>
                  <a:srgbClr val="087F83"/>
                </a:solidFill>
                <a:latin typeface="Calibri"/>
              </a:defRPr>
            </a:pPr>
            <a:r>
              <a:t>Human-Centric Design: Positioned AI as an investigator, keeping instructors as the final judges to protect due process.</a:t>
            </a:r>
          </a:p>
        </p:txBody>
      </p:sp>
      <p:sp>
        <p:nvSpPr>
          <p:cNvPr id="7" name="TextBox 6"/>
          <p:cNvSpPr txBox="1"/>
          <p:nvPr/>
        </p:nvSpPr>
        <p:spPr>
          <a:xfrm>
            <a:off x="6291072" y="1874519"/>
            <a:ext cx="5166360" cy="3108960"/>
          </a:xfrm>
          <a:prstGeom prst="rect">
            <a:avLst/>
          </a:prstGeom>
          <a:noFill/>
        </p:spPr>
        <p:txBody>
          <a:bodyPr wrap="square" lIns="228600" tIns="182880" rIns="228600">
            <a:spAutoFit/>
          </a:bodyPr>
          <a:lstStyle/>
          <a:p>
            <a:pPr algn="ctr">
              <a:defRPr sz="1600" b="1">
                <a:solidFill>
                  <a:srgbClr val="153448"/>
                </a:solidFill>
                <a:latin typeface="Calibri"/>
              </a:defRPr>
            </a:pPr>
            <a:r>
              <a:t>Future Work</a:t>
            </a:r>
          </a:p>
          <a:p>
            <a:pPr>
              <a:defRPr sz="1200" b="1">
                <a:solidFill>
                  <a:srgbClr val="087F83"/>
                </a:solidFill>
                <a:latin typeface="Calibri"/>
              </a:defRPr>
            </a:pPr>
            <a:r>
              <a:t>Scale: Run large-scale trials with real student cohorts (beyond the 4-scenario proof of concept).</a:t>
            </a:r>
          </a:p>
          <a:p>
            <a:pPr>
              <a:defRPr sz="1200" b="1">
                <a:solidFill>
                  <a:srgbClr val="087F83"/>
                </a:solidFill>
                <a:latin typeface="Calibri"/>
              </a:defRPr>
            </a:pPr>
            <a:r>
              <a:t>Precision: Implement hardware-level clock synchronization for perfect timestamp alignment.</a:t>
            </a:r>
          </a:p>
          <a:p>
            <a:pPr>
              <a:defRPr sz="1200" b="1">
                <a:solidFill>
                  <a:srgbClr val="087F83"/>
                </a:solidFill>
                <a:latin typeface="Calibri"/>
              </a:defRPr>
            </a:pPr>
            <a:r>
              <a:t>Privacy: Transition to on-premises, privacy-preserving local models to avoid external API uploads.</a:t>
            </a:r>
          </a:p>
        </p:txBody>
      </p:sp>
      <p:sp>
        <p:nvSpPr>
          <p:cNvPr id="8" name="TextBox 7"/>
          <p:cNvSpPr txBox="1"/>
          <p:nvPr/>
        </p:nvSpPr>
        <p:spPr>
          <a:xfrm>
            <a:off x="731520" y="5120640"/>
            <a:ext cx="10725912" cy="868680"/>
          </a:xfrm>
          <a:prstGeom prst="rect">
            <a:avLst/>
          </a:prstGeom>
          <a:noFill/>
        </p:spPr>
        <p:txBody>
          <a:bodyPr wrap="square" tIns="109728">
            <a:spAutoFit/>
          </a:bodyPr>
          <a:lstStyle/>
          <a:p>
            <a:pPr algn="ctr">
              <a:defRPr sz="1200" b="1">
                <a:solidFill>
                  <a:srgbClr val="087F83"/>
                </a:solidFill>
                <a:latin typeface="Calibri"/>
              </a:defRPr>
            </a:pPr>
            <a:r>
              <a:t>Code Repository: github.com/MSajidAli-byte/Exam-Flow   |   Archived Data: doi.org/10.5281/zenodo.23465605</a:t>
            </a:r>
          </a:p>
          <a:p>
            <a:pPr algn="ctr">
              <a:defRPr sz="1800" b="1">
                <a:solidFill>
                  <a:srgbClr val="153448"/>
                </a:solidFill>
                <a:latin typeface="Calibri"/>
              </a:defRPr>
            </a:pPr>
            <a:r>
              <a:t>Thank You! Questions &amp; Discussion</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7F9FB"/>
        </a:solidFill>
        <a:effectLst/>
      </p:bgPr>
    </p:bg>
    <p:spTree>
      <p:nvGrpSpPr>
        <p:cNvPr id="1" name=""/>
        <p:cNvGrpSpPr/>
        <p:nvPr/>
      </p:nvGrpSpPr>
      <p:grpSpPr>
        <a:xfrm>
          <a:off x="0" y="0"/>
          <a:ext cx="0" cy="0"/>
          <a:chOff x="0" y="0"/>
          <a:chExt cx="0" cy="0"/>
        </a:xfrm>
      </p:grpSpPr>
      <p:sp>
        <p:nvSpPr>
          <p:cNvPr id="2" name="TextBox 1"/>
          <p:cNvSpPr txBox="1"/>
          <p:nvPr/>
        </p:nvSpPr>
        <p:spPr>
          <a:xfrm>
            <a:off x="603504" y="411480"/>
            <a:ext cx="10972800" cy="777240"/>
          </a:xfrm>
          <a:prstGeom prst="rect">
            <a:avLst/>
          </a:prstGeom>
          <a:noFill/>
        </p:spPr>
        <p:txBody>
          <a:bodyPr wrap="square" lIns="0" tIns="0" rIns="0" bIns="0">
            <a:spAutoFit/>
          </a:bodyPr>
          <a:lstStyle/>
          <a:p>
            <a:pPr>
              <a:defRPr sz="2800" b="1">
                <a:solidFill>
                  <a:srgbClr val="153448"/>
                </a:solidFill>
                <a:latin typeface="Calibri"/>
              </a:defRPr>
            </a:pPr>
            <a:r>
              <a:t>Presenter Reference: Q&amp;A Defense Sheet</a:t>
            </a:r>
          </a:p>
        </p:txBody>
      </p:sp>
      <p:sp>
        <p:nvSpPr>
          <p:cNvPr id="3" name="TextBox 2"/>
          <p:cNvSpPr txBox="1"/>
          <p:nvPr/>
        </p:nvSpPr>
        <p:spPr>
          <a:xfrm>
            <a:off x="603504" y="1170432"/>
            <a:ext cx="10972800" cy="502920"/>
          </a:xfrm>
          <a:prstGeom prst="rect">
            <a:avLst/>
          </a:prstGeom>
          <a:noFill/>
        </p:spPr>
        <p:txBody>
          <a:bodyPr wrap="square" lIns="0" tIns="0" rIns="0" bIns="0">
            <a:spAutoFit/>
          </a:bodyPr>
          <a:lstStyle/>
          <a:p>
            <a:pPr>
              <a:defRPr sz="1400">
                <a:solidFill>
                  <a:srgbClr val="526574"/>
                </a:solidFill>
                <a:latin typeface="Calibri"/>
              </a:defRPr>
            </a:pPr>
            <a:r>
              <a:t>Key factual anchors from the revised paper for live audience questions.</a:t>
            </a:r>
          </a:p>
        </p:txBody>
      </p:sp>
      <p:sp>
        <p:nvSpPr>
          <p:cNvPr id="4" name="TextBox 3"/>
          <p:cNvSpPr txBox="1"/>
          <p:nvPr/>
        </p:nvSpPr>
        <p:spPr>
          <a:xfrm>
            <a:off x="603504" y="6355080"/>
            <a:ext cx="9601200" cy="320040"/>
          </a:xfrm>
          <a:prstGeom prst="rect">
            <a:avLst/>
          </a:prstGeom>
          <a:noFill/>
        </p:spPr>
        <p:txBody>
          <a:bodyPr wrap="square" lIns="0" tIns="0" rIns="0" bIns="0">
            <a:spAutoFit/>
          </a:bodyPr>
          <a:lstStyle/>
          <a:p>
            <a:pPr>
              <a:defRPr sz="1000">
                <a:solidFill>
                  <a:srgbClr val="526574"/>
                </a:solidFill>
                <a:latin typeface="Calibri"/>
              </a:defRPr>
            </a:pPr>
            <a:r>
              <a:t>Exam-Flow  |  IEEE TOK-CSES 2026</a:t>
            </a:r>
          </a:p>
        </p:txBody>
      </p:sp>
      <p:sp>
        <p:nvSpPr>
          <p:cNvPr id="5" name="TextBox 4"/>
          <p:cNvSpPr txBox="1"/>
          <p:nvPr/>
        </p:nvSpPr>
        <p:spPr>
          <a:xfrm>
            <a:off x="10789920" y="6355080"/>
            <a:ext cx="777240" cy="320040"/>
          </a:xfrm>
          <a:prstGeom prst="rect">
            <a:avLst/>
          </a:prstGeom>
          <a:noFill/>
        </p:spPr>
        <p:txBody>
          <a:bodyPr wrap="none" lIns="0" tIns="0" rIns="0" bIns="0">
            <a:spAutoFit/>
          </a:bodyPr>
          <a:lstStyle/>
          <a:p>
            <a:pPr algn="r">
              <a:defRPr sz="1000">
                <a:solidFill>
                  <a:srgbClr val="526574"/>
                </a:solidFill>
                <a:latin typeface="Calibri"/>
              </a:defRPr>
            </a:pPr>
            <a:r>
              <a:t>18</a:t>
            </a:r>
          </a:p>
        </p:txBody>
      </p:sp>
      <p:sp>
        <p:nvSpPr>
          <p:cNvPr id="6" name="TextBox 5"/>
          <p:cNvSpPr txBox="1"/>
          <p:nvPr/>
        </p:nvSpPr>
        <p:spPr>
          <a:xfrm>
            <a:off x="731520" y="1874519"/>
            <a:ext cx="10725912" cy="4114800"/>
          </a:xfrm>
          <a:prstGeom prst="rect">
            <a:avLst/>
          </a:prstGeom>
          <a:noFill/>
        </p:spPr>
        <p:txBody>
          <a:bodyPr wrap="square" lIns="274320" tIns="274320" rIns="274320" bIns="274320">
            <a:spAutoFit/>
          </a:bodyPr>
          <a:lstStyle/>
          <a:p>
            <a:pPr algn="ctr">
              <a:defRPr sz="1200" b="1">
                <a:solidFill>
                  <a:srgbClr val="153448"/>
                </a:solidFill>
                <a:latin typeface="Calibri"/>
              </a:defRPr>
            </a:pPr>
            <a:r>
              <a:t>If asked about F1 / Statistical Superiority: “We removed automated F1 and classification rate claims because our evaluation extraction script was text-search based and we evaluated four curated demonstration packages. We strictly position Exam-Flow as an architectural proof-of-concept.”</a:t>
            </a:r>
          </a:p>
          <a:p>
            <a:pPr>
              <a:defRPr sz="1200" b="1">
                <a:solidFill>
                  <a:srgbClr val="153448"/>
                </a:solidFill>
                <a:latin typeface="Calibri"/>
              </a:defRPr>
            </a:pPr>
            <a:r>
              <a:t>If asked about Embeddings &amp; RAG Models: “Our reference retrieval layer in ChromaDB uses Google’s gemini-embedding-001 with cosine distance, not CodeBERT. The manuscript and codebase explicitly reflect this configuration.”</a:t>
            </a:r>
          </a:p>
          <a:p>
            <a:pPr>
              <a:defRPr sz="1200" b="1">
                <a:solidFill>
                  <a:srgbClr val="153448"/>
                </a:solidFill>
                <a:latin typeface="Calibri"/>
              </a:defRPr>
            </a:pPr>
            <a:r>
              <a:t>If asked about the 3-Second Sudden Logic Rule: “The 3-second threshold is an empirical prompt instruction designed to catch multi-line block insertions, not a proven mathematical optimum. Validating sensitivity across typing speeds is future work.”</a:t>
            </a:r>
          </a:p>
          <a:p>
            <a:pPr>
              <a:defRPr sz="1200" b="1">
                <a:solidFill>
                  <a:srgbClr val="153448"/>
                </a:solidFill>
                <a:latin typeface="Calibri"/>
              </a:defRPr>
            </a:pPr>
            <a:r>
              <a:t>If asked about Reproducibility &amp; Open Science: “The complete pipeline, prompt templates, evaluation scripts, and demonstration assets are publicly archived on Zenodo (DOI: 10.5281/zenodo.23465605) and GitHub under an open license.”</a:t>
            </a:r>
          </a:p>
          <a:p>
            <a:pPr>
              <a:defRPr sz="1200" b="1">
                <a:solidFill>
                  <a:srgbClr val="153448"/>
                </a:solidFill>
                <a:latin typeface="Calibri"/>
              </a:defRPr>
            </a:pPr>
            <a:r>
              <a:t>If asked why Human-in-the-Loop is Mandatory: “As shown in Trial 4, vision models can misinterpret gaze aversion as facial occlusion. AI must serve as an explanatory investigative aid, while certified human instructors retain sole disciplinary authority.”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17</TotalTime>
  <Words>4071</Words>
  <Application>Microsoft Office PowerPoint</Application>
  <PresentationFormat>Widescreen</PresentationFormat>
  <Paragraphs>320</Paragraphs>
  <Slides>18</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Muhammad Ali</cp:lastModifiedBy>
  <cp:revision>8</cp:revision>
  <dcterms:created xsi:type="dcterms:W3CDTF">2013-01-27T09:14:16Z</dcterms:created>
  <dcterms:modified xsi:type="dcterms:W3CDTF">2026-10-21T14:35:34Z</dcterms:modified>
  <cp:category/>
</cp:coreProperties>
</file>